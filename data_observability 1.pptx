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53" r:id="rId2"/>
    <p:sldMasterId id="2147483654" r:id="rId3"/>
  </p:sldMasterIdLst>
  <p:notesMasterIdLst>
    <p:notesMasterId r:id="rId13"/>
  </p:notesMasterIdLst>
  <p:sldIdLst>
    <p:sldId id="256" r:id="rId4"/>
    <p:sldId id="258" r:id="rId5"/>
    <p:sldId id="278" r:id="rId6"/>
    <p:sldId id="279" r:id="rId7"/>
    <p:sldId id="280" r:id="rId8"/>
    <p:sldId id="275" r:id="rId9"/>
    <p:sldId id="281" r:id="rId10"/>
    <p:sldId id="282" r:id="rId11"/>
    <p:sldId id="267" r:id="rId12"/>
  </p:sldIdLst>
  <p:sldSz cx="9144000" cy="5143500" type="screen16x9"/>
  <p:notesSz cx="20104100" cy="11315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1847"/>
    <a:srgbClr val="B5F3F1"/>
    <a:srgbClr val="FFEB33"/>
    <a:srgbClr val="911744"/>
    <a:srgbClr val="B77858"/>
    <a:srgbClr val="A6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896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f10de7207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1f10de7207_1_57:notes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1f10de7207_1_57:notes"/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1f10de7207_1_0:notes"/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CE1D01C0-5EEB-6045-B8C9-3E006A9B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>
            <a:extLst>
              <a:ext uri="{FF2B5EF4-FFF2-40B4-BE49-F238E27FC236}">
                <a16:creationId xmlns:a16="http://schemas.microsoft.com/office/drawing/2014/main" id="{2A47C6FC-412B-7AD2-AD9A-9942D29FD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>
            <a:extLst>
              <a:ext uri="{FF2B5EF4-FFF2-40B4-BE49-F238E27FC236}">
                <a16:creationId xmlns:a16="http://schemas.microsoft.com/office/drawing/2014/main" id="{31B41A13-E594-864E-6A75-FB14CC74BF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1f10de7207_1_0:notes">
            <a:extLst>
              <a:ext uri="{FF2B5EF4-FFF2-40B4-BE49-F238E27FC236}">
                <a16:creationId xmlns:a16="http://schemas.microsoft.com/office/drawing/2014/main" id="{ABD945AA-BBFF-E513-877F-54D77BDD33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5377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D181E7D3-8D47-5E53-0025-16A072C1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>
            <a:extLst>
              <a:ext uri="{FF2B5EF4-FFF2-40B4-BE49-F238E27FC236}">
                <a16:creationId xmlns:a16="http://schemas.microsoft.com/office/drawing/2014/main" id="{E91A36CC-B352-ACD7-9C2E-F48162750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>
            <a:extLst>
              <a:ext uri="{FF2B5EF4-FFF2-40B4-BE49-F238E27FC236}">
                <a16:creationId xmlns:a16="http://schemas.microsoft.com/office/drawing/2014/main" id="{218CAE80-43E0-BA9D-F74A-661774BE2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1f10de7207_1_0:notes">
            <a:extLst>
              <a:ext uri="{FF2B5EF4-FFF2-40B4-BE49-F238E27FC236}">
                <a16:creationId xmlns:a16="http://schemas.microsoft.com/office/drawing/2014/main" id="{3E851267-DFAA-255F-DCFF-3605940B97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1165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47069C37-9A4E-9142-F1D2-73D0F7FB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>
            <a:extLst>
              <a:ext uri="{FF2B5EF4-FFF2-40B4-BE49-F238E27FC236}">
                <a16:creationId xmlns:a16="http://schemas.microsoft.com/office/drawing/2014/main" id="{A9878D69-4438-D47E-189C-D78EC9B9E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>
            <a:extLst>
              <a:ext uri="{FF2B5EF4-FFF2-40B4-BE49-F238E27FC236}">
                <a16:creationId xmlns:a16="http://schemas.microsoft.com/office/drawing/2014/main" id="{CAD30503-7360-95A1-42AB-DE000BC11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1f10de7207_1_0:notes">
            <a:extLst>
              <a:ext uri="{FF2B5EF4-FFF2-40B4-BE49-F238E27FC236}">
                <a16:creationId xmlns:a16="http://schemas.microsoft.com/office/drawing/2014/main" id="{E71A5D4C-75CC-AA24-1F2C-45DDD05237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562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4A536ACD-A430-7648-3A4F-1194125B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>
            <a:extLst>
              <a:ext uri="{FF2B5EF4-FFF2-40B4-BE49-F238E27FC236}">
                <a16:creationId xmlns:a16="http://schemas.microsoft.com/office/drawing/2014/main" id="{7EE6B688-C4A5-CEB0-638E-3AAC62D85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>
            <a:extLst>
              <a:ext uri="{FF2B5EF4-FFF2-40B4-BE49-F238E27FC236}">
                <a16:creationId xmlns:a16="http://schemas.microsoft.com/office/drawing/2014/main" id="{9BE2192B-3470-A013-BCC5-B774B5B2F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1f10de7207_1_0:notes">
            <a:extLst>
              <a:ext uri="{FF2B5EF4-FFF2-40B4-BE49-F238E27FC236}">
                <a16:creationId xmlns:a16="http://schemas.microsoft.com/office/drawing/2014/main" id="{C5C2D5CD-3011-2FEE-56ED-7EBE15310C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37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23AA94B1-7376-4F3A-9B5D-51DCFD92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>
            <a:extLst>
              <a:ext uri="{FF2B5EF4-FFF2-40B4-BE49-F238E27FC236}">
                <a16:creationId xmlns:a16="http://schemas.microsoft.com/office/drawing/2014/main" id="{8EC2441B-DDF9-9FE8-9560-3D54B2AEF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>
            <a:extLst>
              <a:ext uri="{FF2B5EF4-FFF2-40B4-BE49-F238E27FC236}">
                <a16:creationId xmlns:a16="http://schemas.microsoft.com/office/drawing/2014/main" id="{BB009909-768C-81E4-4BBE-EEF343899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" name="Google Shape;72;g31f10de7207_1_0:notes">
            <a:extLst>
              <a:ext uri="{FF2B5EF4-FFF2-40B4-BE49-F238E27FC236}">
                <a16:creationId xmlns:a16="http://schemas.microsoft.com/office/drawing/2014/main" id="{C375FB61-6A9B-5F5F-44D3-B8EDD2DDC4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030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08ACEADF-9C9E-2DAB-A603-FC0E51EB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f10de7207_1_0:notes">
            <a:extLst>
              <a:ext uri="{FF2B5EF4-FFF2-40B4-BE49-F238E27FC236}">
                <a16:creationId xmlns:a16="http://schemas.microsoft.com/office/drawing/2014/main" id="{E5598027-BF58-CF3E-D9C5-49545BDD7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f10de7207_1_0:notes">
            <a:extLst>
              <a:ext uri="{FF2B5EF4-FFF2-40B4-BE49-F238E27FC236}">
                <a16:creationId xmlns:a16="http://schemas.microsoft.com/office/drawing/2014/main" id="{46A98F7D-739D-EC28-B194-042DA6712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1f10de7207_1_0:notes">
            <a:extLst>
              <a:ext uri="{FF2B5EF4-FFF2-40B4-BE49-F238E27FC236}">
                <a16:creationId xmlns:a16="http://schemas.microsoft.com/office/drawing/2014/main" id="{6AA63CA8-145B-437B-72EF-466E1F0739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3000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bf7633b4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bf7633b45_0_2:notes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00" cy="44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4bf7633b45_0_2:notes"/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300" cy="56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281239" y="1276352"/>
            <a:ext cx="40431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31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000"/>
              <a:buFont typeface="Arial"/>
              <a:buNone/>
              <a:defRPr sz="1000">
                <a:solidFill>
                  <a:srgbClr val="F4F3F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>
            <a:spLocks noGrp="1"/>
          </p:cNvSpPr>
          <p:nvPr>
            <p:ph type="pic" idx="3"/>
          </p:nvPr>
        </p:nvSpPr>
        <p:spPr>
          <a:xfrm>
            <a:off x="4398264" y="1354933"/>
            <a:ext cx="4745700" cy="316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81239" y="1276352"/>
            <a:ext cx="40431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287359" y="839933"/>
            <a:ext cx="85728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600"/>
              <a:buNone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8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281239" y="1276352"/>
            <a:ext cx="40431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31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1165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281238" y="4364870"/>
            <a:ext cx="1331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>
            <a:spLocks noGrp="1"/>
          </p:cNvSpPr>
          <p:nvPr>
            <p:ph type="pic" idx="3"/>
          </p:nvPr>
        </p:nvSpPr>
        <p:spPr>
          <a:xfrm>
            <a:off x="4398264" y="1354933"/>
            <a:ext cx="4745700" cy="316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77812" y="2227763"/>
            <a:ext cx="26505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81239" y="1276352"/>
            <a:ext cx="40431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F4F3F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31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E6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4863" y="471477"/>
            <a:ext cx="1100525" cy="14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70640" y="100727"/>
            <a:ext cx="148500" cy="14580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4;p1"/>
          <p:cNvCxnSpPr/>
          <p:nvPr/>
        </p:nvCxnSpPr>
        <p:spPr>
          <a:xfrm>
            <a:off x="91079" y="273502"/>
            <a:ext cx="107700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1"/>
          <p:cNvSpPr txBox="1"/>
          <p:nvPr/>
        </p:nvSpPr>
        <p:spPr>
          <a:xfrm>
            <a:off x="70640" y="330802"/>
            <a:ext cx="1485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7301" y="63763"/>
            <a:ext cx="215100" cy="39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5">
            <a:alphaModFix/>
          </a:blip>
          <a:srcRect l="5200" t="38245" r="4368" b="37400"/>
          <a:stretch/>
        </p:blipFill>
        <p:spPr>
          <a:xfrm>
            <a:off x="288868" y="188633"/>
            <a:ext cx="1546281" cy="4164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81239" y="1276352"/>
            <a:ext cx="40431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87191" y="2136844"/>
            <a:ext cx="40431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116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4863" y="471477"/>
            <a:ext cx="1100525" cy="14472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70640" y="100727"/>
            <a:ext cx="148500" cy="14580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91079" y="273502"/>
            <a:ext cx="107700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" name="Google Shape;33;p4"/>
          <p:cNvSpPr txBox="1"/>
          <p:nvPr/>
        </p:nvSpPr>
        <p:spPr>
          <a:xfrm>
            <a:off x="70640" y="330802"/>
            <a:ext cx="1485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7301" y="63763"/>
            <a:ext cx="215100" cy="39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4">
            <a:alphaModFix/>
          </a:blip>
          <a:srcRect l="5197" t="38799" r="5206" b="38802"/>
          <a:stretch/>
        </p:blipFill>
        <p:spPr>
          <a:xfrm>
            <a:off x="291248" y="194983"/>
            <a:ext cx="1530406" cy="382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277812" y="2227763"/>
            <a:ext cx="26505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4863" y="471477"/>
            <a:ext cx="1100525" cy="14472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70640" y="100727"/>
            <a:ext cx="148500" cy="14580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6"/>
          <p:cNvCxnSpPr/>
          <p:nvPr/>
        </p:nvCxnSpPr>
        <p:spPr>
          <a:xfrm>
            <a:off x="91079" y="273502"/>
            <a:ext cx="107700" cy="0"/>
          </a:xfrm>
          <a:prstGeom prst="straightConnector1">
            <a:avLst/>
          </a:prstGeom>
          <a:noFill/>
          <a:ln w="9525" cap="flat" cmpd="sng">
            <a:solidFill>
              <a:srgbClr val="E4116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46;p6"/>
          <p:cNvSpPr txBox="1"/>
          <p:nvPr/>
        </p:nvSpPr>
        <p:spPr>
          <a:xfrm>
            <a:off x="70640" y="330802"/>
            <a:ext cx="1485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7301" y="63763"/>
            <a:ext cx="215100" cy="39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l="5197" t="38799" r="5206" b="38802"/>
          <a:stretch/>
        </p:blipFill>
        <p:spPr>
          <a:xfrm>
            <a:off x="291248" y="194983"/>
            <a:ext cx="1530406" cy="382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png"/><Relationship Id="rId20" Type="http://schemas.openxmlformats.org/officeDocument/2006/relationships/image" Target="../media/image4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11600" y="1752556"/>
            <a:ext cx="53208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3F9"/>
              </a:buClr>
              <a:buSzPts val="2400"/>
              <a:buFont typeface="Calibri"/>
              <a:buNone/>
            </a:pPr>
            <a:r>
              <a:rPr lang="en-US" sz="3200" i="1" dirty="0">
                <a:solidFill>
                  <a:srgbClr val="E41165"/>
                </a:solidFill>
              </a:rPr>
              <a:t>Agentic AI System for Data Observability</a:t>
            </a:r>
            <a:br>
              <a:rPr lang="en-US" i="1" dirty="0"/>
            </a:br>
            <a:endParaRPr i="1" dirty="0"/>
          </a:p>
        </p:txBody>
      </p:sp>
      <p:pic>
        <p:nvPicPr>
          <p:cNvPr id="57" name="Google Shape;57;p8" title="people-discussing-media-ratings-1536x10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900" y="1205725"/>
            <a:ext cx="4083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/>
          <p:nvPr/>
        </p:nvSpPr>
        <p:spPr>
          <a:xfrm>
            <a:off x="492450" y="4165000"/>
            <a:ext cx="24213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B403B-4DFC-50A8-9BE4-F2BBF7F85970}"/>
              </a:ext>
            </a:extLst>
          </p:cNvPr>
          <p:cNvSpPr txBox="1"/>
          <p:nvPr/>
        </p:nvSpPr>
        <p:spPr>
          <a:xfrm>
            <a:off x="492450" y="3404937"/>
            <a:ext cx="211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Domain: </a:t>
            </a:r>
            <a:r>
              <a:rPr lang="en-IN" i="1" dirty="0"/>
              <a:t>Clinical Trails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/>
        </p:nvSpPr>
        <p:spPr>
          <a:xfrm>
            <a:off x="907543" y="851309"/>
            <a:ext cx="436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400" dirty="0">
              <a:solidFill>
                <a:srgbClr val="E41165"/>
              </a:solidFill>
            </a:endParaRPr>
          </a:p>
        </p:txBody>
      </p:sp>
      <p:sp>
        <p:nvSpPr>
          <p:cNvPr id="75" name="Google Shape;75;p10"/>
          <p:cNvSpPr txBox="1"/>
          <p:nvPr/>
        </p:nvSpPr>
        <p:spPr>
          <a:xfrm>
            <a:off x="1336049" y="4428606"/>
            <a:ext cx="127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4892884" y="4427122"/>
            <a:ext cx="111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/>
          <p:cNvSpPr txBox="1"/>
          <p:nvPr/>
        </p:nvSpPr>
        <p:spPr>
          <a:xfrm>
            <a:off x="6428542" y="4427119"/>
            <a:ext cx="185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/>
          <p:cNvSpPr txBox="1"/>
          <p:nvPr/>
        </p:nvSpPr>
        <p:spPr>
          <a:xfrm>
            <a:off x="640749" y="1566475"/>
            <a:ext cx="7961383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Clinical trial analytical systems depend on reliable healthcare data pipelines for accurate patient monitoring and regulatory reporting.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Silent failures such as delayed ingestion, schema mismatches, stale datasets, ETL failures, and abnormal side-effect spikes can lead to inaccurate clinical insights.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Traditional monitoring systems generate alerts but do not autonomously investigate anomalies or identify root causes.</a:t>
            </a:r>
          </a:p>
        </p:txBody>
      </p:sp>
      <p:sp>
        <p:nvSpPr>
          <p:cNvPr id="79" name="Google Shape;79;p10"/>
          <p:cNvSpPr txBox="1"/>
          <p:nvPr/>
        </p:nvSpPr>
        <p:spPr>
          <a:xfrm>
            <a:off x="601762" y="2895775"/>
            <a:ext cx="291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BC50D420-C353-C53F-50FC-1EC8CF7F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>
            <a:extLst>
              <a:ext uri="{FF2B5EF4-FFF2-40B4-BE49-F238E27FC236}">
                <a16:creationId xmlns:a16="http://schemas.microsoft.com/office/drawing/2014/main" id="{4BCF4250-85DC-D87D-9DA3-621FCF147B1F}"/>
              </a:ext>
            </a:extLst>
          </p:cNvPr>
          <p:cNvSpPr txBox="1"/>
          <p:nvPr/>
        </p:nvSpPr>
        <p:spPr>
          <a:xfrm>
            <a:off x="907543" y="851309"/>
            <a:ext cx="436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2400" dirty="0">
              <a:solidFill>
                <a:srgbClr val="E41165"/>
              </a:solidFill>
            </a:endParaRPr>
          </a:p>
        </p:txBody>
      </p:sp>
      <p:sp>
        <p:nvSpPr>
          <p:cNvPr id="75" name="Google Shape;75;p10">
            <a:extLst>
              <a:ext uri="{FF2B5EF4-FFF2-40B4-BE49-F238E27FC236}">
                <a16:creationId xmlns:a16="http://schemas.microsoft.com/office/drawing/2014/main" id="{BE8CE6E8-8AAE-0D11-A8D7-B82EBFCD24B2}"/>
              </a:ext>
            </a:extLst>
          </p:cNvPr>
          <p:cNvSpPr txBox="1"/>
          <p:nvPr/>
        </p:nvSpPr>
        <p:spPr>
          <a:xfrm>
            <a:off x="1336049" y="4428606"/>
            <a:ext cx="127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>
            <a:extLst>
              <a:ext uri="{FF2B5EF4-FFF2-40B4-BE49-F238E27FC236}">
                <a16:creationId xmlns:a16="http://schemas.microsoft.com/office/drawing/2014/main" id="{69D18E5D-6287-D9C7-136F-694CBEC387D4}"/>
              </a:ext>
            </a:extLst>
          </p:cNvPr>
          <p:cNvSpPr txBox="1"/>
          <p:nvPr/>
        </p:nvSpPr>
        <p:spPr>
          <a:xfrm>
            <a:off x="4892884" y="4427122"/>
            <a:ext cx="111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>
            <a:extLst>
              <a:ext uri="{FF2B5EF4-FFF2-40B4-BE49-F238E27FC236}">
                <a16:creationId xmlns:a16="http://schemas.microsoft.com/office/drawing/2014/main" id="{B1448652-40AC-B702-EF6E-B9DD16B1E0E5}"/>
              </a:ext>
            </a:extLst>
          </p:cNvPr>
          <p:cNvSpPr txBox="1"/>
          <p:nvPr/>
        </p:nvSpPr>
        <p:spPr>
          <a:xfrm>
            <a:off x="6428542" y="4427119"/>
            <a:ext cx="185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>
            <a:extLst>
              <a:ext uri="{FF2B5EF4-FFF2-40B4-BE49-F238E27FC236}">
                <a16:creationId xmlns:a16="http://schemas.microsoft.com/office/drawing/2014/main" id="{FEA12CB9-6FA3-0AD5-2C1D-87471F8DEBE2}"/>
              </a:ext>
            </a:extLst>
          </p:cNvPr>
          <p:cNvSpPr txBox="1"/>
          <p:nvPr/>
        </p:nvSpPr>
        <p:spPr>
          <a:xfrm>
            <a:off x="640749" y="1566475"/>
            <a:ext cx="7961383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Build an Agentic AI-powered Data Observability System for monitoring clinical trial data pipelines.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Combine deterministic preprocessing with AI-driven anomaly investigation and root cause analysis.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Use specialized AI agents to analyze observability metrics, ETL logs, and operational failures.</a:t>
            </a:r>
          </a:p>
        </p:txBody>
      </p:sp>
      <p:sp>
        <p:nvSpPr>
          <p:cNvPr id="79" name="Google Shape;79;p10">
            <a:extLst>
              <a:ext uri="{FF2B5EF4-FFF2-40B4-BE49-F238E27FC236}">
                <a16:creationId xmlns:a16="http://schemas.microsoft.com/office/drawing/2014/main" id="{40F4BE4A-0EFD-6983-D3D0-768B4FADFB01}"/>
              </a:ext>
            </a:extLst>
          </p:cNvPr>
          <p:cNvSpPr txBox="1"/>
          <p:nvPr/>
        </p:nvSpPr>
        <p:spPr>
          <a:xfrm>
            <a:off x="601762" y="2895775"/>
            <a:ext cx="291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92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B2D358D-66F5-A5B5-C23F-69B33F10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>
            <a:extLst>
              <a:ext uri="{FF2B5EF4-FFF2-40B4-BE49-F238E27FC236}">
                <a16:creationId xmlns:a16="http://schemas.microsoft.com/office/drawing/2014/main" id="{424D8C11-488A-5131-A1B8-E31D472CB7D7}"/>
              </a:ext>
            </a:extLst>
          </p:cNvPr>
          <p:cNvSpPr txBox="1"/>
          <p:nvPr/>
        </p:nvSpPr>
        <p:spPr>
          <a:xfrm>
            <a:off x="907543" y="851309"/>
            <a:ext cx="436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sz="2400" dirty="0">
              <a:solidFill>
                <a:srgbClr val="E41165"/>
              </a:solidFill>
            </a:endParaRPr>
          </a:p>
        </p:txBody>
      </p:sp>
      <p:sp>
        <p:nvSpPr>
          <p:cNvPr id="75" name="Google Shape;75;p10">
            <a:extLst>
              <a:ext uri="{FF2B5EF4-FFF2-40B4-BE49-F238E27FC236}">
                <a16:creationId xmlns:a16="http://schemas.microsoft.com/office/drawing/2014/main" id="{2188755B-1FBA-A5F3-E225-DE582D92D5E9}"/>
              </a:ext>
            </a:extLst>
          </p:cNvPr>
          <p:cNvSpPr txBox="1"/>
          <p:nvPr/>
        </p:nvSpPr>
        <p:spPr>
          <a:xfrm>
            <a:off x="1336049" y="4428606"/>
            <a:ext cx="127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>
            <a:extLst>
              <a:ext uri="{FF2B5EF4-FFF2-40B4-BE49-F238E27FC236}">
                <a16:creationId xmlns:a16="http://schemas.microsoft.com/office/drawing/2014/main" id="{66EE5D9B-87A4-5FCD-C9C2-657E48F02F39}"/>
              </a:ext>
            </a:extLst>
          </p:cNvPr>
          <p:cNvSpPr txBox="1"/>
          <p:nvPr/>
        </p:nvSpPr>
        <p:spPr>
          <a:xfrm>
            <a:off x="4892884" y="4427122"/>
            <a:ext cx="111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>
            <a:extLst>
              <a:ext uri="{FF2B5EF4-FFF2-40B4-BE49-F238E27FC236}">
                <a16:creationId xmlns:a16="http://schemas.microsoft.com/office/drawing/2014/main" id="{A5175F8E-22B1-6A65-5727-D5C925720508}"/>
              </a:ext>
            </a:extLst>
          </p:cNvPr>
          <p:cNvSpPr txBox="1"/>
          <p:nvPr/>
        </p:nvSpPr>
        <p:spPr>
          <a:xfrm>
            <a:off x="6428542" y="4427119"/>
            <a:ext cx="185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>
            <a:extLst>
              <a:ext uri="{FF2B5EF4-FFF2-40B4-BE49-F238E27FC236}">
                <a16:creationId xmlns:a16="http://schemas.microsoft.com/office/drawing/2014/main" id="{0C859142-3D22-A2EE-7FB6-569912745E7E}"/>
              </a:ext>
            </a:extLst>
          </p:cNvPr>
          <p:cNvSpPr txBox="1"/>
          <p:nvPr/>
        </p:nvSpPr>
        <p:spPr>
          <a:xfrm>
            <a:off x="640749" y="1566475"/>
            <a:ext cx="796138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Detect observability issues across Freshness, Volume, Schema, Distribution, and Lineage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Reduce manual debugging effort using autonomous AI investigation.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US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Improve reliability, explainability, and compliance of clinical analytics systems.</a:t>
            </a:r>
          </a:p>
        </p:txBody>
      </p:sp>
      <p:sp>
        <p:nvSpPr>
          <p:cNvPr id="79" name="Google Shape;79;p10">
            <a:extLst>
              <a:ext uri="{FF2B5EF4-FFF2-40B4-BE49-F238E27FC236}">
                <a16:creationId xmlns:a16="http://schemas.microsoft.com/office/drawing/2014/main" id="{4EA5D7FE-5CD9-5301-66A6-D24728248227}"/>
              </a:ext>
            </a:extLst>
          </p:cNvPr>
          <p:cNvSpPr txBox="1"/>
          <p:nvPr/>
        </p:nvSpPr>
        <p:spPr>
          <a:xfrm>
            <a:off x="601762" y="2895775"/>
            <a:ext cx="291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470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482516F-E91E-0452-800E-43326048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>
            <a:extLst>
              <a:ext uri="{FF2B5EF4-FFF2-40B4-BE49-F238E27FC236}">
                <a16:creationId xmlns:a16="http://schemas.microsoft.com/office/drawing/2014/main" id="{CC326417-45CE-5043-047C-FF1FBB0CBC76}"/>
              </a:ext>
            </a:extLst>
          </p:cNvPr>
          <p:cNvSpPr txBox="1"/>
          <p:nvPr/>
        </p:nvSpPr>
        <p:spPr>
          <a:xfrm>
            <a:off x="907543" y="851309"/>
            <a:ext cx="436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sz="2400" dirty="0">
              <a:solidFill>
                <a:srgbClr val="E41165"/>
              </a:solidFill>
            </a:endParaRPr>
          </a:p>
        </p:txBody>
      </p:sp>
      <p:sp>
        <p:nvSpPr>
          <p:cNvPr id="76" name="Google Shape;76;p10">
            <a:extLst>
              <a:ext uri="{FF2B5EF4-FFF2-40B4-BE49-F238E27FC236}">
                <a16:creationId xmlns:a16="http://schemas.microsoft.com/office/drawing/2014/main" id="{3A396B79-488E-134A-11F2-4ACA0435EEA3}"/>
              </a:ext>
            </a:extLst>
          </p:cNvPr>
          <p:cNvSpPr txBox="1"/>
          <p:nvPr/>
        </p:nvSpPr>
        <p:spPr>
          <a:xfrm>
            <a:off x="4892884" y="4427122"/>
            <a:ext cx="111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>
            <a:extLst>
              <a:ext uri="{FF2B5EF4-FFF2-40B4-BE49-F238E27FC236}">
                <a16:creationId xmlns:a16="http://schemas.microsoft.com/office/drawing/2014/main" id="{7D46DC9D-550C-3ED2-F35A-AD0133D71A6A}"/>
              </a:ext>
            </a:extLst>
          </p:cNvPr>
          <p:cNvSpPr txBox="1"/>
          <p:nvPr/>
        </p:nvSpPr>
        <p:spPr>
          <a:xfrm>
            <a:off x="6428542" y="4427119"/>
            <a:ext cx="185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0">
            <a:extLst>
              <a:ext uri="{FF2B5EF4-FFF2-40B4-BE49-F238E27FC236}">
                <a16:creationId xmlns:a16="http://schemas.microsoft.com/office/drawing/2014/main" id="{7B0DC967-754C-9D31-9EE6-093923A5B82F}"/>
              </a:ext>
            </a:extLst>
          </p:cNvPr>
          <p:cNvSpPr txBox="1"/>
          <p:nvPr/>
        </p:nvSpPr>
        <p:spPr>
          <a:xfrm>
            <a:off x="601762" y="2895775"/>
            <a:ext cx="291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5D3EAB-C806-919B-CDA9-F797111BB367}"/>
              </a:ext>
            </a:extLst>
          </p:cNvPr>
          <p:cNvGrpSpPr/>
          <p:nvPr/>
        </p:nvGrpSpPr>
        <p:grpSpPr>
          <a:xfrm>
            <a:off x="601761" y="1540042"/>
            <a:ext cx="2345976" cy="3227264"/>
            <a:chOff x="601761" y="1540042"/>
            <a:chExt cx="2345976" cy="3227264"/>
          </a:xfrm>
        </p:grpSpPr>
        <p:sp>
          <p:nvSpPr>
            <p:cNvPr id="75" name="Google Shape;75;p10">
              <a:extLst>
                <a:ext uri="{FF2B5EF4-FFF2-40B4-BE49-F238E27FC236}">
                  <a16:creationId xmlns:a16="http://schemas.microsoft.com/office/drawing/2014/main" id="{29BB225C-5BE5-2489-E9DE-65F643E1180A}"/>
                </a:ext>
              </a:extLst>
            </p:cNvPr>
            <p:cNvSpPr txBox="1"/>
            <p:nvPr/>
          </p:nvSpPr>
          <p:spPr>
            <a:xfrm>
              <a:off x="1336049" y="4428606"/>
              <a:ext cx="1272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6CD63A7-1413-77B3-BBE0-8C6186D906FA}"/>
                </a:ext>
              </a:extLst>
            </p:cNvPr>
            <p:cNvGrpSpPr/>
            <p:nvPr/>
          </p:nvGrpSpPr>
          <p:grpSpPr>
            <a:xfrm>
              <a:off x="601761" y="1540042"/>
              <a:ext cx="2345976" cy="3080084"/>
              <a:chOff x="601761" y="1540042"/>
              <a:chExt cx="2345976" cy="2634916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0F2AADF0-DD7F-56EB-7B96-E94B9B77881F}"/>
                  </a:ext>
                </a:extLst>
              </p:cNvPr>
              <p:cNvSpPr/>
              <p:nvPr/>
            </p:nvSpPr>
            <p:spPr>
              <a:xfrm>
                <a:off x="601761" y="1744579"/>
                <a:ext cx="2345976" cy="243037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Python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Fast API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Pandas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 err="1">
                    <a:solidFill>
                      <a:schemeClr val="tx1"/>
                    </a:solidFill>
                  </a:rPr>
                  <a:t>Langchain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 err="1">
                    <a:solidFill>
                      <a:schemeClr val="tx1"/>
                    </a:solidFill>
                  </a:rPr>
                  <a:t>Langgraph</a:t>
                </a:r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OpenAI GPT-4o</a:t>
                </a:r>
              </a:p>
            </p:txBody>
          </p:sp>
          <p:sp>
            <p:nvSpPr>
              <p:cNvPr id="12" name="Flowchart: Terminator 11">
                <a:extLst>
                  <a:ext uri="{FF2B5EF4-FFF2-40B4-BE49-F238E27FC236}">
                    <a16:creationId xmlns:a16="http://schemas.microsoft.com/office/drawing/2014/main" id="{29419958-C807-111B-6340-96432A2C232F}"/>
                  </a:ext>
                </a:extLst>
              </p:cNvPr>
              <p:cNvSpPr/>
              <p:nvPr/>
            </p:nvSpPr>
            <p:spPr>
              <a:xfrm>
                <a:off x="1200165" y="1540042"/>
                <a:ext cx="1194122" cy="385011"/>
              </a:xfrm>
              <a:prstGeom prst="flowChartTerminator">
                <a:avLst/>
              </a:prstGeom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Backend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E8CF5C3-7C16-2FAA-EEC2-6995142A4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65" y="2201294"/>
              <a:ext cx="148965" cy="1496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60E6CC0-21C1-36EA-FF62-59A04C0A7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5697" y="3268060"/>
              <a:ext cx="271064" cy="25470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8BA3F6A-F7CC-202B-06C1-2612EC986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3417" y="3661042"/>
              <a:ext cx="435624" cy="28988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1A45F83-77CE-15D6-7895-C1C71689E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3019" y="4000443"/>
              <a:ext cx="224792" cy="22479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00A132F-7EFD-D32C-9737-A47C17795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4338" y="2860652"/>
              <a:ext cx="224792" cy="22479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01C48CA-7E2D-5B4F-6386-1238E7B7C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66409" y="2533540"/>
              <a:ext cx="182721" cy="18272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70CB1AE-61C2-B685-F40D-695D0DA95FF0}"/>
              </a:ext>
            </a:extLst>
          </p:cNvPr>
          <p:cNvGrpSpPr/>
          <p:nvPr/>
        </p:nvGrpSpPr>
        <p:grpSpPr>
          <a:xfrm>
            <a:off x="5564145" y="1479500"/>
            <a:ext cx="2345976" cy="3227264"/>
            <a:chOff x="601761" y="1540042"/>
            <a:chExt cx="2345976" cy="3227264"/>
          </a:xfrm>
        </p:grpSpPr>
        <p:sp>
          <p:nvSpPr>
            <p:cNvPr id="31" name="Google Shape;75;p10">
              <a:extLst>
                <a:ext uri="{FF2B5EF4-FFF2-40B4-BE49-F238E27FC236}">
                  <a16:creationId xmlns:a16="http://schemas.microsoft.com/office/drawing/2014/main" id="{3F8A9BF1-F914-CA05-2004-7D0C5BA1FECB}"/>
                </a:ext>
              </a:extLst>
            </p:cNvPr>
            <p:cNvSpPr txBox="1"/>
            <p:nvPr/>
          </p:nvSpPr>
          <p:spPr>
            <a:xfrm>
              <a:off x="1336049" y="4428606"/>
              <a:ext cx="1272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99C7A61-E7AC-C72D-9096-010F8855D6F9}"/>
                </a:ext>
              </a:extLst>
            </p:cNvPr>
            <p:cNvGrpSpPr/>
            <p:nvPr/>
          </p:nvGrpSpPr>
          <p:grpSpPr>
            <a:xfrm>
              <a:off x="601761" y="1540042"/>
              <a:ext cx="2345976" cy="3080084"/>
              <a:chOff x="601761" y="1540042"/>
              <a:chExt cx="2345976" cy="2634916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D4C1C981-5EC8-E0B5-2D02-659782DD30F1}"/>
                  </a:ext>
                </a:extLst>
              </p:cNvPr>
              <p:cNvSpPr/>
              <p:nvPr/>
            </p:nvSpPr>
            <p:spPr>
              <a:xfrm>
                <a:off x="601761" y="1744579"/>
                <a:ext cx="2345976" cy="243037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React + TypeScript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Tailwind CSS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Recharts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  <a:p>
                <a:pPr marL="722313"/>
                <a:r>
                  <a:rPr lang="en-IN" sz="1200" dirty="0">
                    <a:solidFill>
                      <a:schemeClr val="tx1"/>
                    </a:solidFill>
                  </a:rPr>
                  <a:t>Radix UI</a:t>
                </a:r>
              </a:p>
              <a:p>
                <a:pPr marL="722313"/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Flowchart: Terminator 39">
                <a:extLst>
                  <a:ext uri="{FF2B5EF4-FFF2-40B4-BE49-F238E27FC236}">
                    <a16:creationId xmlns:a16="http://schemas.microsoft.com/office/drawing/2014/main" id="{EC9ACAD6-0758-4AE7-5CD4-DA9390CCBE95}"/>
                  </a:ext>
                </a:extLst>
              </p:cNvPr>
              <p:cNvSpPr/>
              <p:nvPr/>
            </p:nvSpPr>
            <p:spPr>
              <a:xfrm>
                <a:off x="1200165" y="1540042"/>
                <a:ext cx="1194122" cy="385011"/>
              </a:xfrm>
              <a:prstGeom prst="flowChartTerminator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Frontend</a:t>
                </a:r>
              </a:p>
            </p:txBody>
          </p:sp>
        </p:grp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8D2CCB1B-F4DF-E192-92DE-4145CFD06F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549" y="2973048"/>
            <a:ext cx="195934" cy="11947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1E9E7B4-8014-0004-ACD5-4F039F4343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0634" y="3686497"/>
            <a:ext cx="173957" cy="17395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A2C8C94-5360-BAC7-4618-896DEB588E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2000" y="3346402"/>
            <a:ext cx="384871" cy="19930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485CBFC-5323-6AAC-8353-4A1E7656F9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7834" y="2425805"/>
            <a:ext cx="306757" cy="27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9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1E228F8-693E-A569-5B36-C17C84F6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AAB9F224-77BB-7CDB-8DAA-953026A01F93}"/>
              </a:ext>
            </a:extLst>
          </p:cNvPr>
          <p:cNvGrpSpPr/>
          <p:nvPr/>
        </p:nvGrpSpPr>
        <p:grpSpPr>
          <a:xfrm>
            <a:off x="64217" y="890425"/>
            <a:ext cx="9241189" cy="4303260"/>
            <a:chOff x="64217" y="890425"/>
            <a:chExt cx="9241189" cy="4303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D4E42EE-B6FA-7449-4E59-BFFCD0C18161}"/>
                </a:ext>
              </a:extLst>
            </p:cNvPr>
            <p:cNvGrpSpPr/>
            <p:nvPr/>
          </p:nvGrpSpPr>
          <p:grpSpPr>
            <a:xfrm>
              <a:off x="64217" y="890425"/>
              <a:ext cx="9241189" cy="4303260"/>
              <a:chOff x="64217" y="890425"/>
              <a:chExt cx="9241189" cy="430326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B48F989C-CE48-0229-7CEE-0055CBF9DE57}"/>
                  </a:ext>
                </a:extLst>
              </p:cNvPr>
              <p:cNvGrpSpPr/>
              <p:nvPr/>
            </p:nvGrpSpPr>
            <p:grpSpPr>
              <a:xfrm>
                <a:off x="64217" y="890425"/>
                <a:ext cx="9241189" cy="4303260"/>
                <a:chOff x="64217" y="890425"/>
                <a:chExt cx="9241189" cy="4303260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B1E45022-A296-B6CB-946E-084E566DD228}"/>
                    </a:ext>
                  </a:extLst>
                </p:cNvPr>
                <p:cNvGrpSpPr/>
                <p:nvPr/>
              </p:nvGrpSpPr>
              <p:grpSpPr>
                <a:xfrm>
                  <a:off x="64217" y="890425"/>
                  <a:ext cx="8951008" cy="4303260"/>
                  <a:chOff x="64217" y="459441"/>
                  <a:chExt cx="9446408" cy="4719517"/>
                </a:xfrm>
              </p:grpSpPr>
              <p:sp>
                <p:nvSpPr>
                  <p:cNvPr id="75" name="Google Shape;75;p10">
                    <a:extLst>
                      <a:ext uri="{FF2B5EF4-FFF2-40B4-BE49-F238E27FC236}">
                        <a16:creationId xmlns:a16="http://schemas.microsoft.com/office/drawing/2014/main" id="{F0A66330-FC72-3A0B-5E3F-71A0B8E39D26}"/>
                      </a:ext>
                    </a:extLst>
                  </p:cNvPr>
                  <p:cNvSpPr txBox="1"/>
                  <p:nvPr/>
                </p:nvSpPr>
                <p:spPr>
                  <a:xfrm>
                    <a:off x="1336049" y="4428606"/>
                    <a:ext cx="1272000" cy="33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" name="Google Shape;76;p10">
                    <a:extLst>
                      <a:ext uri="{FF2B5EF4-FFF2-40B4-BE49-F238E27FC236}">
                        <a16:creationId xmlns:a16="http://schemas.microsoft.com/office/drawing/2014/main" id="{E29B5E97-77C8-DDB9-5BA7-12568DD038A0}"/>
                      </a:ext>
                    </a:extLst>
                  </p:cNvPr>
                  <p:cNvSpPr txBox="1"/>
                  <p:nvPr/>
                </p:nvSpPr>
                <p:spPr>
                  <a:xfrm>
                    <a:off x="4892884" y="4427122"/>
                    <a:ext cx="1114500" cy="33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" name="Google Shape;77;p10">
                    <a:extLst>
                      <a:ext uri="{FF2B5EF4-FFF2-40B4-BE49-F238E27FC236}">
                        <a16:creationId xmlns:a16="http://schemas.microsoft.com/office/drawing/2014/main" id="{4EE5E754-ADE7-611B-5B9D-B3CCD0CBA0D2}"/>
                      </a:ext>
                    </a:extLst>
                  </p:cNvPr>
                  <p:cNvSpPr txBox="1"/>
                  <p:nvPr/>
                </p:nvSpPr>
                <p:spPr>
                  <a:xfrm>
                    <a:off x="6428542" y="4427119"/>
                    <a:ext cx="1854300" cy="33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DEE2A999-87E3-36D7-896E-FB0BB560A063}"/>
                      </a:ext>
                    </a:extLst>
                  </p:cNvPr>
                  <p:cNvGrpSpPr/>
                  <p:nvPr/>
                </p:nvGrpSpPr>
                <p:grpSpPr>
                  <a:xfrm>
                    <a:off x="132347" y="2291020"/>
                    <a:ext cx="9378278" cy="1263317"/>
                    <a:chOff x="448153" y="2105525"/>
                    <a:chExt cx="11608038" cy="1524539"/>
                  </a:xfrm>
                </p:grpSpPr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11B6C4FA-D419-C56D-0221-1107FF2191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8153" y="2105525"/>
                      <a:ext cx="5559231" cy="1509592"/>
                      <a:chOff x="448153" y="2105525"/>
                      <a:chExt cx="6140420" cy="1509592"/>
                    </a:xfrm>
                  </p:grpSpPr>
                  <p:sp>
                    <p:nvSpPr>
                      <p:cNvPr id="6" name="Forme libre 3">
                        <a:extLst>
                          <a:ext uri="{FF2B5EF4-FFF2-40B4-BE49-F238E27FC236}">
                            <a16:creationId xmlns:a16="http://schemas.microsoft.com/office/drawing/2014/main" id="{4D7D4018-2BB3-63BF-1131-5B1B6EAF6E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153" y="2105526"/>
                        <a:ext cx="1609248" cy="1068449"/>
                      </a:xfrm>
                      <a:custGeom>
                        <a:avLst/>
                        <a:gdLst>
                          <a:gd name="connsiteX0" fmla="*/ 693395 w 927748"/>
                          <a:gd name="connsiteY0" fmla="*/ 331287 h 824330"/>
                          <a:gd name="connsiteX1" fmla="*/ 603982 w 927748"/>
                          <a:gd name="connsiteY1" fmla="*/ 313122 h 824330"/>
                          <a:gd name="connsiteX2" fmla="*/ 470406 w 927748"/>
                          <a:gd name="connsiteY2" fmla="*/ 6152 h 824330"/>
                          <a:gd name="connsiteX3" fmla="*/ 465166 w 927748"/>
                          <a:gd name="connsiteY3" fmla="*/ 29 h 824330"/>
                          <a:gd name="connsiteX4" fmla="*/ 458702 w 927748"/>
                          <a:gd name="connsiteY4" fmla="*/ 5812 h 824330"/>
                          <a:gd name="connsiteX5" fmla="*/ 458702 w 927748"/>
                          <a:gd name="connsiteY5" fmla="*/ 6084 h 824330"/>
                          <a:gd name="connsiteX6" fmla="*/ 348399 w 927748"/>
                          <a:gd name="connsiteY6" fmla="*/ 301625 h 824330"/>
                          <a:gd name="connsiteX7" fmla="*/ 235781 w 927748"/>
                          <a:gd name="connsiteY7" fmla="*/ 331219 h 824330"/>
                          <a:gd name="connsiteX8" fmla="*/ 235781 w 927748"/>
                          <a:gd name="connsiteY8" fmla="*/ 331219 h 824330"/>
                          <a:gd name="connsiteX9" fmla="*/ 0 w 927748"/>
                          <a:gd name="connsiteY9" fmla="*/ 567094 h 824330"/>
                          <a:gd name="connsiteX10" fmla="*/ 0 w 927748"/>
                          <a:gd name="connsiteY10" fmla="*/ 588456 h 824330"/>
                          <a:gd name="connsiteX11" fmla="*/ 235917 w 927748"/>
                          <a:gd name="connsiteY11" fmla="*/ 824330 h 824330"/>
                          <a:gd name="connsiteX12" fmla="*/ 927749 w 927748"/>
                          <a:gd name="connsiteY12" fmla="*/ 824330 h 824330"/>
                          <a:gd name="connsiteX13" fmla="*/ 927749 w 927748"/>
                          <a:gd name="connsiteY13" fmla="*/ 331287 h 824330"/>
                          <a:gd name="connsiteX14" fmla="*/ 693327 w 927748"/>
                          <a:gd name="connsiteY14" fmla="*/ 331151 h 824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927748" h="824330">
                            <a:moveTo>
                              <a:pt x="693395" y="331287"/>
                            </a:moveTo>
                            <a:cubicBezTo>
                              <a:pt x="661686" y="331287"/>
                              <a:pt x="631473" y="324824"/>
                              <a:pt x="603982" y="313122"/>
                            </a:cubicBezTo>
                            <a:cubicBezTo>
                              <a:pt x="522326" y="278425"/>
                              <a:pt x="470474" y="94869"/>
                              <a:pt x="470406" y="6152"/>
                            </a:cubicBezTo>
                            <a:cubicBezTo>
                              <a:pt x="470406" y="3227"/>
                              <a:pt x="468093" y="301"/>
                              <a:pt x="465166" y="29"/>
                            </a:cubicBezTo>
                            <a:cubicBezTo>
                              <a:pt x="461696" y="-311"/>
                              <a:pt x="458702" y="2411"/>
                              <a:pt x="458702" y="5812"/>
                            </a:cubicBezTo>
                            <a:lnTo>
                              <a:pt x="458702" y="6084"/>
                            </a:lnTo>
                            <a:cubicBezTo>
                              <a:pt x="458702" y="85548"/>
                              <a:pt x="417533" y="262437"/>
                              <a:pt x="348399" y="301625"/>
                            </a:cubicBezTo>
                            <a:cubicBezTo>
                              <a:pt x="315193" y="320470"/>
                              <a:pt x="276745" y="331219"/>
                              <a:pt x="235781" y="331219"/>
                            </a:cubicBezTo>
                            <a:lnTo>
                              <a:pt x="235781" y="331219"/>
                            </a:lnTo>
                            <a:cubicBezTo>
                              <a:pt x="105540" y="331287"/>
                              <a:pt x="0" y="436876"/>
                              <a:pt x="0" y="567094"/>
                            </a:cubicBezTo>
                            <a:lnTo>
                              <a:pt x="0" y="588456"/>
                            </a:lnTo>
                            <a:cubicBezTo>
                              <a:pt x="0" y="718741"/>
                              <a:pt x="105609" y="824330"/>
                              <a:pt x="235917" y="824330"/>
                            </a:cubicBezTo>
                            <a:lnTo>
                              <a:pt x="927749" y="824330"/>
                            </a:lnTo>
                            <a:cubicBezTo>
                              <a:pt x="927749" y="824330"/>
                              <a:pt x="927749" y="331287"/>
                              <a:pt x="927749" y="331287"/>
                            </a:cubicBezTo>
                            <a:lnTo>
                              <a:pt x="693327" y="331151"/>
                            </a:ln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92D050">
                              <a:shade val="30000"/>
                              <a:satMod val="115000"/>
                            </a:srgbClr>
                          </a:gs>
                          <a:gs pos="50000">
                            <a:srgbClr val="92D050">
                              <a:shade val="67500"/>
                              <a:satMod val="115000"/>
                            </a:srgbClr>
                          </a:gs>
                          <a:gs pos="100000">
                            <a:srgbClr val="92D050">
                              <a:shade val="100000"/>
                              <a:satMod val="115000"/>
                            </a:srgbClr>
                          </a:gs>
                        </a:gsLst>
                        <a:lin ang="5400000" scaled="1"/>
                        <a:tileRect/>
                      </a:gra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 dirty="0"/>
                      </a:p>
                    </p:txBody>
                  </p:sp>
                  <p:sp>
                    <p:nvSpPr>
                      <p:cNvPr id="10" name="Forme libre 5">
                        <a:extLst>
                          <a:ext uri="{FF2B5EF4-FFF2-40B4-BE49-F238E27FC236}">
                            <a16:creationId xmlns:a16="http://schemas.microsoft.com/office/drawing/2014/main" id="{C8B56F32-555F-E6E9-CCDC-84AC5F08D7F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884201" y="2537549"/>
                        <a:ext cx="1659466" cy="1068450"/>
                      </a:xfrm>
                      <a:custGeom>
                        <a:avLst/>
                        <a:gdLst>
                          <a:gd name="connsiteX0" fmla="*/ 693395 w 927747"/>
                          <a:gd name="connsiteY0" fmla="*/ 331343 h 824522"/>
                          <a:gd name="connsiteX1" fmla="*/ 603981 w 927747"/>
                          <a:gd name="connsiteY1" fmla="*/ 313178 h 824522"/>
                          <a:gd name="connsiteX2" fmla="*/ 470406 w 927747"/>
                          <a:gd name="connsiteY2" fmla="*/ 6140 h 824522"/>
                          <a:gd name="connsiteX3" fmla="*/ 465575 w 927747"/>
                          <a:gd name="connsiteY3" fmla="*/ 85 h 824522"/>
                          <a:gd name="connsiteX4" fmla="*/ 458770 w 927747"/>
                          <a:gd name="connsiteY4" fmla="*/ 5800 h 824522"/>
                          <a:gd name="connsiteX5" fmla="*/ 458770 w 927747"/>
                          <a:gd name="connsiteY5" fmla="*/ 6140 h 824522"/>
                          <a:gd name="connsiteX6" fmla="*/ 325194 w 927747"/>
                          <a:gd name="connsiteY6" fmla="*/ 313178 h 824522"/>
                          <a:gd name="connsiteX7" fmla="*/ 235781 w 927747"/>
                          <a:gd name="connsiteY7" fmla="*/ 331343 h 824522"/>
                          <a:gd name="connsiteX8" fmla="*/ 0 w 927747"/>
                          <a:gd name="connsiteY8" fmla="*/ 331479 h 824522"/>
                          <a:gd name="connsiteX9" fmla="*/ 0 w 927747"/>
                          <a:gd name="connsiteY9" fmla="*/ 824523 h 824522"/>
                          <a:gd name="connsiteX10" fmla="*/ 927747 w 927747"/>
                          <a:gd name="connsiteY10" fmla="*/ 824523 h 824522"/>
                          <a:gd name="connsiteX11" fmla="*/ 927747 w 927747"/>
                          <a:gd name="connsiteY11" fmla="*/ 331479 h 824522"/>
                          <a:gd name="connsiteX12" fmla="*/ 693327 w 927747"/>
                          <a:gd name="connsiteY12" fmla="*/ 331343 h 8245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927747" h="824522">
                            <a:moveTo>
                              <a:pt x="693395" y="331343"/>
                            </a:moveTo>
                            <a:cubicBezTo>
                              <a:pt x="661686" y="331343"/>
                              <a:pt x="631472" y="324880"/>
                              <a:pt x="603981" y="313178"/>
                            </a:cubicBezTo>
                            <a:cubicBezTo>
                              <a:pt x="522325" y="278481"/>
                              <a:pt x="470406" y="94925"/>
                              <a:pt x="470406" y="6140"/>
                            </a:cubicBezTo>
                            <a:cubicBezTo>
                              <a:pt x="470406" y="3215"/>
                              <a:pt x="468432" y="561"/>
                              <a:pt x="465575" y="85"/>
                            </a:cubicBezTo>
                            <a:cubicBezTo>
                              <a:pt x="461900" y="-527"/>
                              <a:pt x="458770" y="2262"/>
                              <a:pt x="458770" y="5800"/>
                            </a:cubicBezTo>
                            <a:lnTo>
                              <a:pt x="458770" y="6140"/>
                            </a:lnTo>
                            <a:cubicBezTo>
                              <a:pt x="458770" y="94857"/>
                              <a:pt x="406918" y="278413"/>
                              <a:pt x="325194" y="313178"/>
                            </a:cubicBezTo>
                            <a:cubicBezTo>
                              <a:pt x="297704" y="324880"/>
                              <a:pt x="267490" y="331343"/>
                              <a:pt x="235781" y="331343"/>
                            </a:cubicBezTo>
                            <a:lnTo>
                              <a:pt x="0" y="331479"/>
                            </a:lnTo>
                            <a:lnTo>
                              <a:pt x="0" y="824523"/>
                            </a:lnTo>
                            <a:lnTo>
                              <a:pt x="927747" y="824523"/>
                            </a:lnTo>
                            <a:lnTo>
                              <a:pt x="927747" y="331479"/>
                            </a:lnTo>
                            <a:lnTo>
                              <a:pt x="693327" y="331343"/>
                            </a:ln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chemeClr val="accent4">
                              <a:lumMod val="20000"/>
                              <a:lumOff val="80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accent4">
                              <a:lumMod val="20000"/>
                              <a:lumOff val="80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accent4">
                              <a:lumMod val="20000"/>
                              <a:lumOff val="80000"/>
                              <a:shade val="100000"/>
                              <a:satMod val="115000"/>
                            </a:schemeClr>
                          </a:gs>
                        </a:gsLst>
                        <a:path path="circle">
                          <a:fillToRect l="50000" t="50000" r="50000" b="50000"/>
                        </a:path>
                        <a:tileRect/>
                      </a:gra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/>
                      </a:p>
                    </p:txBody>
                  </p:sp>
                  <p:sp>
                    <p:nvSpPr>
                      <p:cNvPr id="13" name="Forme libre 5">
                        <a:extLst>
                          <a:ext uri="{FF2B5EF4-FFF2-40B4-BE49-F238E27FC236}">
                            <a16:creationId xmlns:a16="http://schemas.microsoft.com/office/drawing/2014/main" id="{515BF50C-27A0-EC46-B3F4-5A5AC33659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22547" y="2105525"/>
                        <a:ext cx="1659466" cy="1068450"/>
                      </a:xfrm>
                      <a:custGeom>
                        <a:avLst/>
                        <a:gdLst>
                          <a:gd name="connsiteX0" fmla="*/ 693395 w 927747"/>
                          <a:gd name="connsiteY0" fmla="*/ 331343 h 824522"/>
                          <a:gd name="connsiteX1" fmla="*/ 603981 w 927747"/>
                          <a:gd name="connsiteY1" fmla="*/ 313178 h 824522"/>
                          <a:gd name="connsiteX2" fmla="*/ 470406 w 927747"/>
                          <a:gd name="connsiteY2" fmla="*/ 6140 h 824522"/>
                          <a:gd name="connsiteX3" fmla="*/ 465575 w 927747"/>
                          <a:gd name="connsiteY3" fmla="*/ 85 h 824522"/>
                          <a:gd name="connsiteX4" fmla="*/ 458770 w 927747"/>
                          <a:gd name="connsiteY4" fmla="*/ 5800 h 824522"/>
                          <a:gd name="connsiteX5" fmla="*/ 458770 w 927747"/>
                          <a:gd name="connsiteY5" fmla="*/ 6140 h 824522"/>
                          <a:gd name="connsiteX6" fmla="*/ 325194 w 927747"/>
                          <a:gd name="connsiteY6" fmla="*/ 313178 h 824522"/>
                          <a:gd name="connsiteX7" fmla="*/ 235781 w 927747"/>
                          <a:gd name="connsiteY7" fmla="*/ 331343 h 824522"/>
                          <a:gd name="connsiteX8" fmla="*/ 0 w 927747"/>
                          <a:gd name="connsiteY8" fmla="*/ 331479 h 824522"/>
                          <a:gd name="connsiteX9" fmla="*/ 0 w 927747"/>
                          <a:gd name="connsiteY9" fmla="*/ 824523 h 824522"/>
                          <a:gd name="connsiteX10" fmla="*/ 927747 w 927747"/>
                          <a:gd name="connsiteY10" fmla="*/ 824523 h 824522"/>
                          <a:gd name="connsiteX11" fmla="*/ 927747 w 927747"/>
                          <a:gd name="connsiteY11" fmla="*/ 331479 h 824522"/>
                          <a:gd name="connsiteX12" fmla="*/ 693327 w 927747"/>
                          <a:gd name="connsiteY12" fmla="*/ 331343 h 8245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927747" h="824522">
                            <a:moveTo>
                              <a:pt x="693395" y="331343"/>
                            </a:moveTo>
                            <a:cubicBezTo>
                              <a:pt x="661686" y="331343"/>
                              <a:pt x="631472" y="324880"/>
                              <a:pt x="603981" y="313178"/>
                            </a:cubicBezTo>
                            <a:cubicBezTo>
                              <a:pt x="522325" y="278481"/>
                              <a:pt x="470406" y="94925"/>
                              <a:pt x="470406" y="6140"/>
                            </a:cubicBezTo>
                            <a:cubicBezTo>
                              <a:pt x="470406" y="3215"/>
                              <a:pt x="468432" y="561"/>
                              <a:pt x="465575" y="85"/>
                            </a:cubicBezTo>
                            <a:cubicBezTo>
                              <a:pt x="461900" y="-527"/>
                              <a:pt x="458770" y="2262"/>
                              <a:pt x="458770" y="5800"/>
                            </a:cubicBezTo>
                            <a:lnTo>
                              <a:pt x="458770" y="6140"/>
                            </a:lnTo>
                            <a:cubicBezTo>
                              <a:pt x="458770" y="94857"/>
                              <a:pt x="406918" y="278413"/>
                              <a:pt x="325194" y="313178"/>
                            </a:cubicBezTo>
                            <a:cubicBezTo>
                              <a:pt x="297704" y="324880"/>
                              <a:pt x="267490" y="331343"/>
                              <a:pt x="235781" y="331343"/>
                            </a:cubicBezTo>
                            <a:lnTo>
                              <a:pt x="0" y="331479"/>
                            </a:lnTo>
                            <a:lnTo>
                              <a:pt x="0" y="824523"/>
                            </a:lnTo>
                            <a:lnTo>
                              <a:pt x="927747" y="824523"/>
                            </a:lnTo>
                            <a:lnTo>
                              <a:pt x="927747" y="331479"/>
                            </a:lnTo>
                            <a:lnTo>
                              <a:pt x="693327" y="331343"/>
                            </a:ln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chemeClr val="accent1">
                              <a:lumMod val="20000"/>
                              <a:lumOff val="80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accent1">
                              <a:lumMod val="20000"/>
                              <a:lumOff val="80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accent1">
                              <a:lumMod val="20000"/>
                              <a:lumOff val="80000"/>
                              <a:shade val="100000"/>
                              <a:satMod val="115000"/>
                            </a:schemeClr>
                          </a:gs>
                        </a:gsLst>
                        <a:lin ang="5400000" scaled="1"/>
                        <a:tileRect/>
                      </a:gra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/>
                      </a:p>
                    </p:txBody>
                  </p:sp>
                  <p:sp>
                    <p:nvSpPr>
                      <p:cNvPr id="14" name="Forme libre 5">
                        <a:extLst>
                          <a:ext uri="{FF2B5EF4-FFF2-40B4-BE49-F238E27FC236}">
                            <a16:creationId xmlns:a16="http://schemas.microsoft.com/office/drawing/2014/main" id="{9307EBD5-4980-A387-1ED3-E50285089846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929107" y="2546667"/>
                        <a:ext cx="1659466" cy="1068450"/>
                      </a:xfrm>
                      <a:custGeom>
                        <a:avLst/>
                        <a:gdLst>
                          <a:gd name="connsiteX0" fmla="*/ 693395 w 927747"/>
                          <a:gd name="connsiteY0" fmla="*/ 331343 h 824522"/>
                          <a:gd name="connsiteX1" fmla="*/ 603981 w 927747"/>
                          <a:gd name="connsiteY1" fmla="*/ 313178 h 824522"/>
                          <a:gd name="connsiteX2" fmla="*/ 470406 w 927747"/>
                          <a:gd name="connsiteY2" fmla="*/ 6140 h 824522"/>
                          <a:gd name="connsiteX3" fmla="*/ 465575 w 927747"/>
                          <a:gd name="connsiteY3" fmla="*/ 85 h 824522"/>
                          <a:gd name="connsiteX4" fmla="*/ 458770 w 927747"/>
                          <a:gd name="connsiteY4" fmla="*/ 5800 h 824522"/>
                          <a:gd name="connsiteX5" fmla="*/ 458770 w 927747"/>
                          <a:gd name="connsiteY5" fmla="*/ 6140 h 824522"/>
                          <a:gd name="connsiteX6" fmla="*/ 325194 w 927747"/>
                          <a:gd name="connsiteY6" fmla="*/ 313178 h 824522"/>
                          <a:gd name="connsiteX7" fmla="*/ 235781 w 927747"/>
                          <a:gd name="connsiteY7" fmla="*/ 331343 h 824522"/>
                          <a:gd name="connsiteX8" fmla="*/ 0 w 927747"/>
                          <a:gd name="connsiteY8" fmla="*/ 331479 h 824522"/>
                          <a:gd name="connsiteX9" fmla="*/ 0 w 927747"/>
                          <a:gd name="connsiteY9" fmla="*/ 824523 h 824522"/>
                          <a:gd name="connsiteX10" fmla="*/ 927747 w 927747"/>
                          <a:gd name="connsiteY10" fmla="*/ 824523 h 824522"/>
                          <a:gd name="connsiteX11" fmla="*/ 927747 w 927747"/>
                          <a:gd name="connsiteY11" fmla="*/ 331479 h 824522"/>
                          <a:gd name="connsiteX12" fmla="*/ 693327 w 927747"/>
                          <a:gd name="connsiteY12" fmla="*/ 331343 h 8245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927747" h="824522">
                            <a:moveTo>
                              <a:pt x="693395" y="331343"/>
                            </a:moveTo>
                            <a:cubicBezTo>
                              <a:pt x="661686" y="331343"/>
                              <a:pt x="631472" y="324880"/>
                              <a:pt x="603981" y="313178"/>
                            </a:cubicBezTo>
                            <a:cubicBezTo>
                              <a:pt x="522325" y="278481"/>
                              <a:pt x="470406" y="94925"/>
                              <a:pt x="470406" y="6140"/>
                            </a:cubicBezTo>
                            <a:cubicBezTo>
                              <a:pt x="470406" y="3215"/>
                              <a:pt x="468432" y="561"/>
                              <a:pt x="465575" y="85"/>
                            </a:cubicBezTo>
                            <a:cubicBezTo>
                              <a:pt x="461900" y="-527"/>
                              <a:pt x="458770" y="2262"/>
                              <a:pt x="458770" y="5800"/>
                            </a:cubicBezTo>
                            <a:lnTo>
                              <a:pt x="458770" y="6140"/>
                            </a:lnTo>
                            <a:cubicBezTo>
                              <a:pt x="458770" y="94857"/>
                              <a:pt x="406918" y="278413"/>
                              <a:pt x="325194" y="313178"/>
                            </a:cubicBezTo>
                            <a:cubicBezTo>
                              <a:pt x="297704" y="324880"/>
                              <a:pt x="267490" y="331343"/>
                              <a:pt x="235781" y="331343"/>
                            </a:cubicBezTo>
                            <a:lnTo>
                              <a:pt x="0" y="331479"/>
                            </a:lnTo>
                            <a:lnTo>
                              <a:pt x="0" y="824523"/>
                            </a:lnTo>
                            <a:lnTo>
                              <a:pt x="927747" y="824523"/>
                            </a:lnTo>
                            <a:lnTo>
                              <a:pt x="927747" y="331479"/>
                            </a:lnTo>
                            <a:lnTo>
                              <a:pt x="693327" y="331343"/>
                            </a:ln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chemeClr val="accent4">
                              <a:shade val="30000"/>
                              <a:satMod val="115000"/>
                            </a:schemeClr>
                          </a:gs>
                          <a:gs pos="50000">
                            <a:schemeClr val="accent4">
                              <a:shade val="67500"/>
                              <a:satMod val="115000"/>
                            </a:schemeClr>
                          </a:gs>
                          <a:gs pos="100000">
                            <a:schemeClr val="accent4">
                              <a:shade val="100000"/>
                              <a:satMod val="115000"/>
                            </a:schemeClr>
                          </a:gs>
                        </a:gsLst>
                        <a:lin ang="0" scaled="1"/>
                        <a:tileRect/>
                      </a:gra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/>
                      </a:p>
                    </p:txBody>
                  </p:sp>
                </p:grpSp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B7F62408-52A7-8742-7EEA-295BD3D13C7E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5879354" y="2105954"/>
                      <a:ext cx="6176837" cy="1524110"/>
                      <a:chOff x="-234021" y="2105525"/>
                      <a:chExt cx="6822594" cy="1524110"/>
                    </a:xfrm>
                  </p:grpSpPr>
                  <p:sp>
                    <p:nvSpPr>
                      <p:cNvPr id="17" name="Forme libre 3">
                        <a:extLst>
                          <a:ext uri="{FF2B5EF4-FFF2-40B4-BE49-F238E27FC236}">
                            <a16:creationId xmlns:a16="http://schemas.microsoft.com/office/drawing/2014/main" id="{EF847CCB-C2DF-E8CA-021F-D4C868C522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234021" y="2105526"/>
                        <a:ext cx="2291423" cy="1068449"/>
                      </a:xfrm>
                      <a:custGeom>
                        <a:avLst/>
                        <a:gdLst>
                          <a:gd name="connsiteX0" fmla="*/ 693395 w 927748"/>
                          <a:gd name="connsiteY0" fmla="*/ 331287 h 824330"/>
                          <a:gd name="connsiteX1" fmla="*/ 603982 w 927748"/>
                          <a:gd name="connsiteY1" fmla="*/ 313122 h 824330"/>
                          <a:gd name="connsiteX2" fmla="*/ 470406 w 927748"/>
                          <a:gd name="connsiteY2" fmla="*/ 6152 h 824330"/>
                          <a:gd name="connsiteX3" fmla="*/ 465166 w 927748"/>
                          <a:gd name="connsiteY3" fmla="*/ 29 h 824330"/>
                          <a:gd name="connsiteX4" fmla="*/ 458702 w 927748"/>
                          <a:gd name="connsiteY4" fmla="*/ 5812 h 824330"/>
                          <a:gd name="connsiteX5" fmla="*/ 458702 w 927748"/>
                          <a:gd name="connsiteY5" fmla="*/ 6084 h 824330"/>
                          <a:gd name="connsiteX6" fmla="*/ 348399 w 927748"/>
                          <a:gd name="connsiteY6" fmla="*/ 301625 h 824330"/>
                          <a:gd name="connsiteX7" fmla="*/ 235781 w 927748"/>
                          <a:gd name="connsiteY7" fmla="*/ 331219 h 824330"/>
                          <a:gd name="connsiteX8" fmla="*/ 235781 w 927748"/>
                          <a:gd name="connsiteY8" fmla="*/ 331219 h 824330"/>
                          <a:gd name="connsiteX9" fmla="*/ 0 w 927748"/>
                          <a:gd name="connsiteY9" fmla="*/ 567094 h 824330"/>
                          <a:gd name="connsiteX10" fmla="*/ 0 w 927748"/>
                          <a:gd name="connsiteY10" fmla="*/ 588456 h 824330"/>
                          <a:gd name="connsiteX11" fmla="*/ 235917 w 927748"/>
                          <a:gd name="connsiteY11" fmla="*/ 824330 h 824330"/>
                          <a:gd name="connsiteX12" fmla="*/ 927749 w 927748"/>
                          <a:gd name="connsiteY12" fmla="*/ 824330 h 824330"/>
                          <a:gd name="connsiteX13" fmla="*/ 927749 w 927748"/>
                          <a:gd name="connsiteY13" fmla="*/ 331287 h 824330"/>
                          <a:gd name="connsiteX14" fmla="*/ 693327 w 927748"/>
                          <a:gd name="connsiteY14" fmla="*/ 331151 h 824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927748" h="824330">
                            <a:moveTo>
                              <a:pt x="693395" y="331287"/>
                            </a:moveTo>
                            <a:cubicBezTo>
                              <a:pt x="661686" y="331287"/>
                              <a:pt x="631473" y="324824"/>
                              <a:pt x="603982" y="313122"/>
                            </a:cubicBezTo>
                            <a:cubicBezTo>
                              <a:pt x="522326" y="278425"/>
                              <a:pt x="470474" y="94869"/>
                              <a:pt x="470406" y="6152"/>
                            </a:cubicBezTo>
                            <a:cubicBezTo>
                              <a:pt x="470406" y="3227"/>
                              <a:pt x="468093" y="301"/>
                              <a:pt x="465166" y="29"/>
                            </a:cubicBezTo>
                            <a:cubicBezTo>
                              <a:pt x="461696" y="-311"/>
                              <a:pt x="458702" y="2411"/>
                              <a:pt x="458702" y="5812"/>
                            </a:cubicBezTo>
                            <a:lnTo>
                              <a:pt x="458702" y="6084"/>
                            </a:lnTo>
                            <a:cubicBezTo>
                              <a:pt x="458702" y="85548"/>
                              <a:pt x="417533" y="262437"/>
                              <a:pt x="348399" y="301625"/>
                            </a:cubicBezTo>
                            <a:cubicBezTo>
                              <a:pt x="315193" y="320470"/>
                              <a:pt x="276745" y="331219"/>
                              <a:pt x="235781" y="331219"/>
                            </a:cubicBezTo>
                            <a:lnTo>
                              <a:pt x="235781" y="331219"/>
                            </a:lnTo>
                            <a:cubicBezTo>
                              <a:pt x="105540" y="331287"/>
                              <a:pt x="0" y="436876"/>
                              <a:pt x="0" y="567094"/>
                            </a:cubicBezTo>
                            <a:lnTo>
                              <a:pt x="0" y="588456"/>
                            </a:lnTo>
                            <a:cubicBezTo>
                              <a:pt x="0" y="718741"/>
                              <a:pt x="105609" y="824330"/>
                              <a:pt x="235917" y="824330"/>
                            </a:cubicBezTo>
                            <a:lnTo>
                              <a:pt x="927749" y="824330"/>
                            </a:lnTo>
                            <a:cubicBezTo>
                              <a:pt x="927749" y="824330"/>
                              <a:pt x="927749" y="331287"/>
                              <a:pt x="927749" y="331287"/>
                            </a:cubicBezTo>
                            <a:lnTo>
                              <a:pt x="693327" y="331151"/>
                            </a:lnTo>
                            <a:close/>
                          </a:path>
                        </a:pathLst>
                      </a:cu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/>
                      </a:p>
                    </p:txBody>
                  </p:sp>
                  <p:sp>
                    <p:nvSpPr>
                      <p:cNvPr id="18" name="Forme libre 5">
                        <a:extLst>
                          <a:ext uri="{FF2B5EF4-FFF2-40B4-BE49-F238E27FC236}">
                            <a16:creationId xmlns:a16="http://schemas.microsoft.com/office/drawing/2014/main" id="{44D159E0-327B-0E8D-6019-357C1B197D35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444555" y="2537549"/>
                        <a:ext cx="2099114" cy="1068450"/>
                      </a:xfrm>
                      <a:custGeom>
                        <a:avLst/>
                        <a:gdLst>
                          <a:gd name="connsiteX0" fmla="*/ 693395 w 927747"/>
                          <a:gd name="connsiteY0" fmla="*/ 331343 h 824522"/>
                          <a:gd name="connsiteX1" fmla="*/ 603981 w 927747"/>
                          <a:gd name="connsiteY1" fmla="*/ 313178 h 824522"/>
                          <a:gd name="connsiteX2" fmla="*/ 470406 w 927747"/>
                          <a:gd name="connsiteY2" fmla="*/ 6140 h 824522"/>
                          <a:gd name="connsiteX3" fmla="*/ 465575 w 927747"/>
                          <a:gd name="connsiteY3" fmla="*/ 85 h 824522"/>
                          <a:gd name="connsiteX4" fmla="*/ 458770 w 927747"/>
                          <a:gd name="connsiteY4" fmla="*/ 5800 h 824522"/>
                          <a:gd name="connsiteX5" fmla="*/ 458770 w 927747"/>
                          <a:gd name="connsiteY5" fmla="*/ 6140 h 824522"/>
                          <a:gd name="connsiteX6" fmla="*/ 325194 w 927747"/>
                          <a:gd name="connsiteY6" fmla="*/ 313178 h 824522"/>
                          <a:gd name="connsiteX7" fmla="*/ 235781 w 927747"/>
                          <a:gd name="connsiteY7" fmla="*/ 331343 h 824522"/>
                          <a:gd name="connsiteX8" fmla="*/ 0 w 927747"/>
                          <a:gd name="connsiteY8" fmla="*/ 331479 h 824522"/>
                          <a:gd name="connsiteX9" fmla="*/ 0 w 927747"/>
                          <a:gd name="connsiteY9" fmla="*/ 824523 h 824522"/>
                          <a:gd name="connsiteX10" fmla="*/ 927747 w 927747"/>
                          <a:gd name="connsiteY10" fmla="*/ 824523 h 824522"/>
                          <a:gd name="connsiteX11" fmla="*/ 927747 w 927747"/>
                          <a:gd name="connsiteY11" fmla="*/ 331479 h 824522"/>
                          <a:gd name="connsiteX12" fmla="*/ 693327 w 927747"/>
                          <a:gd name="connsiteY12" fmla="*/ 331343 h 8245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927747" h="824522">
                            <a:moveTo>
                              <a:pt x="693395" y="331343"/>
                            </a:moveTo>
                            <a:cubicBezTo>
                              <a:pt x="661686" y="331343"/>
                              <a:pt x="631472" y="324880"/>
                              <a:pt x="603981" y="313178"/>
                            </a:cubicBezTo>
                            <a:cubicBezTo>
                              <a:pt x="522325" y="278481"/>
                              <a:pt x="470406" y="94925"/>
                              <a:pt x="470406" y="6140"/>
                            </a:cubicBezTo>
                            <a:cubicBezTo>
                              <a:pt x="470406" y="3215"/>
                              <a:pt x="468432" y="561"/>
                              <a:pt x="465575" y="85"/>
                            </a:cubicBezTo>
                            <a:cubicBezTo>
                              <a:pt x="461900" y="-527"/>
                              <a:pt x="458770" y="2262"/>
                              <a:pt x="458770" y="5800"/>
                            </a:cubicBezTo>
                            <a:lnTo>
                              <a:pt x="458770" y="6140"/>
                            </a:lnTo>
                            <a:cubicBezTo>
                              <a:pt x="458770" y="94857"/>
                              <a:pt x="406918" y="278413"/>
                              <a:pt x="325194" y="313178"/>
                            </a:cubicBezTo>
                            <a:cubicBezTo>
                              <a:pt x="297704" y="324880"/>
                              <a:pt x="267490" y="331343"/>
                              <a:pt x="235781" y="331343"/>
                            </a:cubicBezTo>
                            <a:lnTo>
                              <a:pt x="0" y="331479"/>
                            </a:lnTo>
                            <a:lnTo>
                              <a:pt x="0" y="824523"/>
                            </a:lnTo>
                            <a:lnTo>
                              <a:pt x="927747" y="824523"/>
                            </a:lnTo>
                            <a:lnTo>
                              <a:pt x="927747" y="331479"/>
                            </a:lnTo>
                            <a:lnTo>
                              <a:pt x="693327" y="331343"/>
                            </a:lnTo>
                            <a:close/>
                          </a:path>
                        </a:pathLst>
                      </a:custGeom>
                      <a:solidFill>
                        <a:srgbClr val="FFC000"/>
                      </a:soli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/>
                      </a:p>
                    </p:txBody>
                  </p:sp>
                  <p:sp>
                    <p:nvSpPr>
                      <p:cNvPr id="19" name="Forme libre 5">
                        <a:extLst>
                          <a:ext uri="{FF2B5EF4-FFF2-40B4-BE49-F238E27FC236}">
                            <a16:creationId xmlns:a16="http://schemas.microsoft.com/office/drawing/2014/main" id="{E8E56EFD-540A-C433-A1AD-9168D42BCC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22547" y="2105525"/>
                        <a:ext cx="1659466" cy="1068450"/>
                      </a:xfrm>
                      <a:custGeom>
                        <a:avLst/>
                        <a:gdLst>
                          <a:gd name="connsiteX0" fmla="*/ 693395 w 927747"/>
                          <a:gd name="connsiteY0" fmla="*/ 331343 h 824522"/>
                          <a:gd name="connsiteX1" fmla="*/ 603981 w 927747"/>
                          <a:gd name="connsiteY1" fmla="*/ 313178 h 824522"/>
                          <a:gd name="connsiteX2" fmla="*/ 470406 w 927747"/>
                          <a:gd name="connsiteY2" fmla="*/ 6140 h 824522"/>
                          <a:gd name="connsiteX3" fmla="*/ 465575 w 927747"/>
                          <a:gd name="connsiteY3" fmla="*/ 85 h 824522"/>
                          <a:gd name="connsiteX4" fmla="*/ 458770 w 927747"/>
                          <a:gd name="connsiteY4" fmla="*/ 5800 h 824522"/>
                          <a:gd name="connsiteX5" fmla="*/ 458770 w 927747"/>
                          <a:gd name="connsiteY5" fmla="*/ 6140 h 824522"/>
                          <a:gd name="connsiteX6" fmla="*/ 325194 w 927747"/>
                          <a:gd name="connsiteY6" fmla="*/ 313178 h 824522"/>
                          <a:gd name="connsiteX7" fmla="*/ 235781 w 927747"/>
                          <a:gd name="connsiteY7" fmla="*/ 331343 h 824522"/>
                          <a:gd name="connsiteX8" fmla="*/ 0 w 927747"/>
                          <a:gd name="connsiteY8" fmla="*/ 331479 h 824522"/>
                          <a:gd name="connsiteX9" fmla="*/ 0 w 927747"/>
                          <a:gd name="connsiteY9" fmla="*/ 824523 h 824522"/>
                          <a:gd name="connsiteX10" fmla="*/ 927747 w 927747"/>
                          <a:gd name="connsiteY10" fmla="*/ 824523 h 824522"/>
                          <a:gd name="connsiteX11" fmla="*/ 927747 w 927747"/>
                          <a:gd name="connsiteY11" fmla="*/ 331479 h 824522"/>
                          <a:gd name="connsiteX12" fmla="*/ 693327 w 927747"/>
                          <a:gd name="connsiteY12" fmla="*/ 331343 h 8245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927747" h="824522">
                            <a:moveTo>
                              <a:pt x="693395" y="331343"/>
                            </a:moveTo>
                            <a:cubicBezTo>
                              <a:pt x="661686" y="331343"/>
                              <a:pt x="631472" y="324880"/>
                              <a:pt x="603981" y="313178"/>
                            </a:cubicBezTo>
                            <a:cubicBezTo>
                              <a:pt x="522325" y="278481"/>
                              <a:pt x="470406" y="94925"/>
                              <a:pt x="470406" y="6140"/>
                            </a:cubicBezTo>
                            <a:cubicBezTo>
                              <a:pt x="470406" y="3215"/>
                              <a:pt x="468432" y="561"/>
                              <a:pt x="465575" y="85"/>
                            </a:cubicBezTo>
                            <a:cubicBezTo>
                              <a:pt x="461900" y="-527"/>
                              <a:pt x="458770" y="2262"/>
                              <a:pt x="458770" y="5800"/>
                            </a:cubicBezTo>
                            <a:lnTo>
                              <a:pt x="458770" y="6140"/>
                            </a:lnTo>
                            <a:cubicBezTo>
                              <a:pt x="458770" y="94857"/>
                              <a:pt x="406918" y="278413"/>
                              <a:pt x="325194" y="313178"/>
                            </a:cubicBezTo>
                            <a:cubicBezTo>
                              <a:pt x="297704" y="324880"/>
                              <a:pt x="267490" y="331343"/>
                              <a:pt x="235781" y="331343"/>
                            </a:cubicBezTo>
                            <a:lnTo>
                              <a:pt x="0" y="331479"/>
                            </a:lnTo>
                            <a:lnTo>
                              <a:pt x="0" y="824523"/>
                            </a:lnTo>
                            <a:lnTo>
                              <a:pt x="927747" y="824523"/>
                            </a:lnTo>
                            <a:lnTo>
                              <a:pt x="927747" y="331479"/>
                            </a:lnTo>
                            <a:lnTo>
                              <a:pt x="693327" y="331343"/>
                            </a:ln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/>
                      </a:p>
                    </p:txBody>
                  </p:sp>
                  <p:sp>
                    <p:nvSpPr>
                      <p:cNvPr id="20" name="Forme libre 5">
                        <a:extLst>
                          <a:ext uri="{FF2B5EF4-FFF2-40B4-BE49-F238E27FC236}">
                            <a16:creationId xmlns:a16="http://schemas.microsoft.com/office/drawing/2014/main" id="{5C1CE48A-6A38-CA45-A36B-F6B9F71E6DF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929107" y="2561187"/>
                        <a:ext cx="1659466" cy="1068448"/>
                      </a:xfrm>
                      <a:custGeom>
                        <a:avLst/>
                        <a:gdLst>
                          <a:gd name="connsiteX0" fmla="*/ 693395 w 927747"/>
                          <a:gd name="connsiteY0" fmla="*/ 331343 h 824522"/>
                          <a:gd name="connsiteX1" fmla="*/ 603981 w 927747"/>
                          <a:gd name="connsiteY1" fmla="*/ 313178 h 824522"/>
                          <a:gd name="connsiteX2" fmla="*/ 470406 w 927747"/>
                          <a:gd name="connsiteY2" fmla="*/ 6140 h 824522"/>
                          <a:gd name="connsiteX3" fmla="*/ 465575 w 927747"/>
                          <a:gd name="connsiteY3" fmla="*/ 85 h 824522"/>
                          <a:gd name="connsiteX4" fmla="*/ 458770 w 927747"/>
                          <a:gd name="connsiteY4" fmla="*/ 5800 h 824522"/>
                          <a:gd name="connsiteX5" fmla="*/ 458770 w 927747"/>
                          <a:gd name="connsiteY5" fmla="*/ 6140 h 824522"/>
                          <a:gd name="connsiteX6" fmla="*/ 325194 w 927747"/>
                          <a:gd name="connsiteY6" fmla="*/ 313178 h 824522"/>
                          <a:gd name="connsiteX7" fmla="*/ 235781 w 927747"/>
                          <a:gd name="connsiteY7" fmla="*/ 331343 h 824522"/>
                          <a:gd name="connsiteX8" fmla="*/ 0 w 927747"/>
                          <a:gd name="connsiteY8" fmla="*/ 331479 h 824522"/>
                          <a:gd name="connsiteX9" fmla="*/ 0 w 927747"/>
                          <a:gd name="connsiteY9" fmla="*/ 824523 h 824522"/>
                          <a:gd name="connsiteX10" fmla="*/ 927747 w 927747"/>
                          <a:gd name="connsiteY10" fmla="*/ 824523 h 824522"/>
                          <a:gd name="connsiteX11" fmla="*/ 927747 w 927747"/>
                          <a:gd name="connsiteY11" fmla="*/ 331479 h 824522"/>
                          <a:gd name="connsiteX12" fmla="*/ 693327 w 927747"/>
                          <a:gd name="connsiteY12" fmla="*/ 331343 h 8245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927747" h="824522">
                            <a:moveTo>
                              <a:pt x="693395" y="331343"/>
                            </a:moveTo>
                            <a:cubicBezTo>
                              <a:pt x="661686" y="331343"/>
                              <a:pt x="631472" y="324880"/>
                              <a:pt x="603981" y="313178"/>
                            </a:cubicBezTo>
                            <a:cubicBezTo>
                              <a:pt x="522325" y="278481"/>
                              <a:pt x="470406" y="94925"/>
                              <a:pt x="470406" y="6140"/>
                            </a:cubicBezTo>
                            <a:cubicBezTo>
                              <a:pt x="470406" y="3215"/>
                              <a:pt x="468432" y="561"/>
                              <a:pt x="465575" y="85"/>
                            </a:cubicBezTo>
                            <a:cubicBezTo>
                              <a:pt x="461900" y="-527"/>
                              <a:pt x="458770" y="2262"/>
                              <a:pt x="458770" y="5800"/>
                            </a:cubicBezTo>
                            <a:lnTo>
                              <a:pt x="458770" y="6140"/>
                            </a:lnTo>
                            <a:cubicBezTo>
                              <a:pt x="458770" y="94857"/>
                              <a:pt x="406918" y="278413"/>
                              <a:pt x="325194" y="313178"/>
                            </a:cubicBezTo>
                            <a:cubicBezTo>
                              <a:pt x="297704" y="324880"/>
                              <a:pt x="267490" y="331343"/>
                              <a:pt x="235781" y="331343"/>
                            </a:cubicBezTo>
                            <a:lnTo>
                              <a:pt x="0" y="331479"/>
                            </a:lnTo>
                            <a:lnTo>
                              <a:pt x="0" y="824523"/>
                            </a:lnTo>
                            <a:lnTo>
                              <a:pt x="927747" y="824523"/>
                            </a:lnTo>
                            <a:lnTo>
                              <a:pt x="927747" y="331479"/>
                            </a:lnTo>
                            <a:lnTo>
                              <a:pt x="693327" y="331343"/>
                            </a:ln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chemeClr val="accent5">
                              <a:lumMod val="60000"/>
                              <a:lumOff val="40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accent5">
                              <a:lumMod val="60000"/>
                              <a:lumOff val="40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accent5">
                              <a:lumMod val="60000"/>
                              <a:lumOff val="40000"/>
                              <a:shade val="100000"/>
                              <a:satMod val="115000"/>
                            </a:schemeClr>
                          </a:gs>
                        </a:gsLst>
                        <a:path path="circle">
                          <a:fillToRect t="100000" r="100000"/>
                        </a:path>
                        <a:tileRect l="-100000" b="-100000"/>
                      </a:gradFill>
                      <a:ln w="680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fr-FR" sz="1350" dirty="0"/>
                      </a:p>
                    </p:txBody>
                  </p:sp>
                </p:grp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A93CF05-4226-BF20-963A-2FFCA4396406}"/>
                      </a:ext>
                    </a:extLst>
                  </p:cNvPr>
                  <p:cNvSpPr txBox="1"/>
                  <p:nvPr/>
                </p:nvSpPr>
                <p:spPr>
                  <a:xfrm>
                    <a:off x="64217" y="960304"/>
                    <a:ext cx="1911472" cy="1184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sz="1200" dirty="0">
                        <a:solidFill>
                          <a:srgbClr val="92D050"/>
                        </a:solidFill>
                        <a:latin typeface="+mn-lt"/>
                      </a:rPr>
                      <a:t>Start</a:t>
                    </a:r>
                  </a:p>
                  <a:p>
                    <a:pPr algn="ctr"/>
                    <a:endParaRPr lang="en-IN" sz="900" dirty="0">
                      <a:solidFill>
                        <a:srgbClr val="92D050"/>
                      </a:solidFill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Triggered by scheduler or data arrival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endParaRPr lang="en-IN" sz="800" dirty="0">
                      <a:latin typeface="Aptos Slab Light" panose="020F0502020204030204" pitchFamily="34" charset="0"/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Ingests clinical data and ETL logs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6C354B8-AB86-CD70-0EFA-CD9143162970}"/>
                      </a:ext>
                    </a:extLst>
                  </p:cNvPr>
                  <p:cNvSpPr txBox="1"/>
                  <p:nvPr/>
                </p:nvSpPr>
                <p:spPr>
                  <a:xfrm>
                    <a:off x="696576" y="3707485"/>
                    <a:ext cx="2018881" cy="10618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>
                        <a:latin typeface="Aptos Slab Light" panose="020F0502020204030204" pitchFamily="34" charset="0"/>
                      </a:rPr>
                      <a:t>            </a:t>
                    </a:r>
                    <a:r>
                      <a:rPr lang="en-IN" sz="12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+mn-lt"/>
                      </a:rPr>
                      <a:t>Data</a:t>
                    </a:r>
                    <a:r>
                      <a:rPr lang="en-IN" sz="12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ptos Slab Light" panose="020F0502020204030204" pitchFamily="34" charset="0"/>
                      </a:rPr>
                      <a:t> </a:t>
                    </a:r>
                    <a:r>
                      <a:rPr lang="en-IN" sz="12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+mn-lt"/>
                      </a:rPr>
                      <a:t>Ingestion</a:t>
                    </a:r>
                  </a:p>
                  <a:p>
                    <a:pPr algn="ctr"/>
                    <a:endParaRPr lang="en-IN" sz="900" dirty="0">
                      <a:solidFill>
                        <a:srgbClr val="92D050"/>
                      </a:solidFill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Read clinical_trial_data.csv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Read etl_logs.txt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Validate file availability and format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C464069-EE7A-DA7E-212E-3C44C84FAB78}"/>
                      </a:ext>
                    </a:extLst>
                  </p:cNvPr>
                  <p:cNvSpPr txBox="1"/>
                  <p:nvPr/>
                </p:nvSpPr>
                <p:spPr>
                  <a:xfrm>
                    <a:off x="2020366" y="459441"/>
                    <a:ext cx="2018881" cy="1546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+mn-lt"/>
                      </a:rPr>
                      <a:t>   </a:t>
                    </a:r>
                    <a:r>
                      <a:rPr lang="en-IN" sz="1200" dirty="0">
                        <a:solidFill>
                          <a:srgbClr val="A6B7B7"/>
                        </a:solidFill>
                        <a:latin typeface="+mn-lt"/>
                      </a:rPr>
                      <a:t>Preprocess &amp; Validate</a:t>
                    </a:r>
                  </a:p>
                  <a:p>
                    <a:endParaRPr lang="en-IN" sz="900" dirty="0">
                      <a:solidFill>
                        <a:srgbClr val="92D050"/>
                      </a:solidFill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Upload &amp; data freshness check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Schema validation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PII / PHI masking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Clean &amp; standardize data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Extract observability metrics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Detect statistical drift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64CC4D9-BD0C-6C56-6AA5-92A11197CBCF}"/>
                      </a:ext>
                    </a:extLst>
                  </p:cNvPr>
                  <p:cNvSpPr txBox="1"/>
                  <p:nvPr/>
                </p:nvSpPr>
                <p:spPr>
                  <a:xfrm>
                    <a:off x="3108303" y="3534396"/>
                    <a:ext cx="2018881" cy="15189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+mn-lt"/>
                      </a:rPr>
                      <a:t>   </a:t>
                    </a:r>
                    <a:r>
                      <a:rPr lang="en-IN" sz="1200" dirty="0">
                        <a:solidFill>
                          <a:srgbClr val="911744"/>
                        </a:solidFill>
                        <a:latin typeface="+mn-lt"/>
                      </a:rPr>
                      <a:t>Create Artifacts</a:t>
                    </a:r>
                    <a:endParaRPr lang="en-IN" sz="1200" dirty="0">
                      <a:solidFill>
                        <a:srgbClr val="981847"/>
                      </a:solidFill>
                      <a:latin typeface="+mn-lt"/>
                    </a:endParaRPr>
                  </a:p>
                  <a:p>
                    <a:endParaRPr lang="en-IN" sz="900" dirty="0">
                      <a:solidFill>
                        <a:srgbClr val="92D050"/>
                      </a:solidFill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Create Artifacts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Generate Metrics JSON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(observability metrics, anomalies, drift results)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Generate Sanitized Logs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(cleaned ETL logs)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38057AA-D516-874F-A001-83DE41809C33}"/>
                      </a:ext>
                    </a:extLst>
                  </p:cNvPr>
                  <p:cNvSpPr txBox="1"/>
                  <p:nvPr/>
                </p:nvSpPr>
                <p:spPr>
                  <a:xfrm>
                    <a:off x="4169580" y="633590"/>
                    <a:ext cx="3054981" cy="1546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+mn-lt"/>
                      </a:rPr>
                      <a:t>      </a:t>
                    </a:r>
                    <a:r>
                      <a:rPr lang="en-IN" sz="1200" dirty="0">
                        <a:solidFill>
                          <a:srgbClr val="B77858"/>
                        </a:solidFill>
                        <a:latin typeface="+mn-lt"/>
                      </a:rPr>
                      <a:t>AI Analysis (Agentic)</a:t>
                    </a:r>
                  </a:p>
                  <a:p>
                    <a:endParaRPr lang="en-IN" sz="900" dirty="0">
                      <a:solidFill>
                        <a:srgbClr val="92D050"/>
                      </a:solidFill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b="1" dirty="0">
                        <a:latin typeface="Aptos Slab Light" panose="020F0502020204030204" pitchFamily="34" charset="0"/>
                      </a:rPr>
                      <a:t>Supervisor Agent </a:t>
                    </a:r>
                    <a:r>
                      <a:rPr lang="en-IN" sz="1050" dirty="0">
                        <a:latin typeface="Aptos Slab Light" panose="020F0502020204030204" pitchFamily="34" charset="0"/>
                      </a:rPr>
                      <a:t>orchestrates the workflow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b="1" dirty="0">
                        <a:latin typeface="Aptos Slab Light" panose="020F0502020204030204" pitchFamily="34" charset="0"/>
                      </a:rPr>
                      <a:t>Specialists </a:t>
                    </a:r>
                    <a:r>
                      <a:rPr lang="en-IN" sz="1050" b="1" dirty="0" err="1">
                        <a:latin typeface="Aptos Slab Light" panose="020F0502020204030204" pitchFamily="34" charset="0"/>
                      </a:rPr>
                      <a:t>analyze</a:t>
                    </a:r>
                    <a:r>
                      <a:rPr lang="en-IN" sz="1050" b="1" dirty="0">
                        <a:latin typeface="Aptos Slab Light" panose="020F0502020204030204" pitchFamily="34" charset="0"/>
                      </a:rPr>
                      <a:t> in parallel: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Data Quality Agent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Log Analysis Agent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RCA Agent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Recommendation Agent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Compliance Agent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A698EF2A-6995-FF56-6884-33CA8F9F8123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877" y="3482778"/>
                    <a:ext cx="2612733" cy="16961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>
                        <a:solidFill>
                          <a:srgbClr val="FFEB33"/>
                        </a:solidFill>
                        <a:latin typeface="+mn-lt"/>
                      </a:rPr>
                      <a:t>       AI Incident Report</a:t>
                    </a:r>
                  </a:p>
                  <a:p>
                    <a:endParaRPr lang="en-IN" sz="900" dirty="0">
                      <a:solidFill>
                        <a:srgbClr val="92D050"/>
                      </a:solidFill>
                    </a:endParaRP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Consolidate agent outputs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dirty="0">
                        <a:latin typeface="Aptos Slab Light" panose="020F0502020204030204" pitchFamily="34" charset="0"/>
                      </a:rPr>
                      <a:t>Generate incident report with: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b="1" dirty="0">
                        <a:latin typeface="Aptos Slab Light" panose="020F0502020204030204" pitchFamily="34" charset="0"/>
                      </a:rPr>
                      <a:t>anomalies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b="1" dirty="0">
                        <a:latin typeface="Aptos Slab Light" panose="020F0502020204030204" pitchFamily="34" charset="0"/>
                      </a:rPr>
                      <a:t>RCA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b="1" dirty="0">
                        <a:latin typeface="Aptos Slab Light" panose="020F0502020204030204" pitchFamily="34" charset="0"/>
                      </a:rPr>
                      <a:t>recommendations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IN" sz="1050" b="1" dirty="0">
                        <a:latin typeface="Aptos Slab Light" panose="020F0502020204030204" pitchFamily="34" charset="0"/>
                      </a:rPr>
                      <a:t>Include confidence score and evidence</a:t>
                    </a:r>
                  </a:p>
                </p:txBody>
              </p:sp>
            </p:grp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2DC9CEC-F9B4-2BED-35C1-E899D51C0A48}"/>
                    </a:ext>
                  </a:extLst>
                </p:cNvPr>
                <p:cNvSpPr txBox="1"/>
                <p:nvPr/>
              </p:nvSpPr>
              <p:spPr>
                <a:xfrm>
                  <a:off x="6829693" y="3713029"/>
                  <a:ext cx="2475713" cy="946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solidFill>
                        <a:schemeClr val="tx1"/>
                      </a:solidFill>
                      <a:latin typeface="+mn-lt"/>
                    </a:rPr>
                    <a:t>            Final Output</a:t>
                  </a:r>
                </a:p>
                <a:p>
                  <a:endParaRPr lang="en-IN" sz="12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+mn-lt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000" dirty="0">
                      <a:latin typeface="Aptos Slab Light" panose="020F0502020204030204" pitchFamily="34" charset="0"/>
                    </a:rPr>
                    <a:t>Publish insights to clinical dashboard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000" dirty="0">
                      <a:latin typeface="Aptos Slab Light" panose="020F0502020204030204" pitchFamily="34" charset="0"/>
                    </a:rPr>
                    <a:t>Approved reports for regulatory / stakeholder review &amp; submission</a:t>
                  </a:r>
                  <a:endParaRPr lang="en-IN" sz="1000" b="1" dirty="0">
                    <a:latin typeface="Aptos Slab Light" panose="020F0502020204030204" pitchFamily="34" charset="0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DD84439-2590-95DD-8947-EBE1C22632EF}"/>
                    </a:ext>
                  </a:extLst>
                </p:cNvPr>
                <p:cNvSpPr txBox="1"/>
                <p:nvPr/>
              </p:nvSpPr>
              <p:spPr>
                <a:xfrm>
                  <a:off x="6244441" y="1657468"/>
                  <a:ext cx="2894768" cy="900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latin typeface="+mn-lt"/>
                    </a:rPr>
                    <a:t>      </a:t>
                  </a:r>
                  <a:r>
                    <a:rPr lang="en-IN" sz="1200" dirty="0">
                      <a:solidFill>
                        <a:srgbClr val="B77858"/>
                      </a:solidFill>
                      <a:latin typeface="+mn-lt"/>
                    </a:rPr>
                    <a:t>Human Review &amp; Approval</a:t>
                  </a:r>
                </a:p>
                <a:p>
                  <a:endParaRPr lang="en-IN" sz="900" dirty="0">
                    <a:solidFill>
                      <a:srgbClr val="92D050"/>
                    </a:solidFill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050" b="1" dirty="0">
                      <a:latin typeface="Aptos Slab Light" panose="020F0502020204030204" pitchFamily="34" charset="0"/>
                    </a:rPr>
                    <a:t>Clinical data manager / DevOps engineer reviews the report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050" b="1" dirty="0">
                      <a:latin typeface="Aptos Slab Light" panose="020F0502020204030204" pitchFamily="34" charset="0"/>
                    </a:rPr>
                    <a:t>Approve, modify or reject recommendations</a:t>
                  </a:r>
                  <a:endParaRPr lang="en-IN" sz="1050" dirty="0">
                    <a:latin typeface="Aptos Slab Light" panose="020F0502020204030204" pitchFamily="34" charset="0"/>
                  </a:endParaRP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9A2A7C-A056-7D98-13A5-72A8CDEC8E44}"/>
                  </a:ext>
                </a:extLst>
              </p:cNvPr>
              <p:cNvSpPr txBox="1"/>
              <p:nvPr/>
            </p:nvSpPr>
            <p:spPr>
              <a:xfrm>
                <a:off x="224106" y="2982287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01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5DF90A-B787-12B7-8D13-7193A120ED8A}"/>
                  </a:ext>
                </a:extLst>
              </p:cNvPr>
              <p:cNvSpPr txBox="1"/>
              <p:nvPr/>
            </p:nvSpPr>
            <p:spPr>
              <a:xfrm>
                <a:off x="1074341" y="3002337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30F6DB-0065-73D8-B23F-1C99659EC564}"/>
                  </a:ext>
                </a:extLst>
              </p:cNvPr>
              <p:cNvSpPr txBox="1"/>
              <p:nvPr/>
            </p:nvSpPr>
            <p:spPr>
              <a:xfrm>
                <a:off x="2157701" y="3002337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03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C6B810B-0CFC-9746-516B-5D4591D3173F}"/>
                  </a:ext>
                </a:extLst>
              </p:cNvPr>
              <p:cNvSpPr txBox="1"/>
              <p:nvPr/>
            </p:nvSpPr>
            <p:spPr>
              <a:xfrm>
                <a:off x="3190899" y="3002337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04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F5A2B9A-69B1-89A1-0C3A-300C171A953D}"/>
                  </a:ext>
                </a:extLst>
              </p:cNvPr>
              <p:cNvSpPr txBox="1"/>
              <p:nvPr/>
            </p:nvSpPr>
            <p:spPr>
              <a:xfrm>
                <a:off x="4274052" y="2989640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899F313-B571-F0C4-AEA4-A26F282904E1}"/>
                  </a:ext>
                </a:extLst>
              </p:cNvPr>
              <p:cNvSpPr txBox="1"/>
              <p:nvPr/>
            </p:nvSpPr>
            <p:spPr>
              <a:xfrm>
                <a:off x="5406114" y="3002337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06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2AFE44-2E27-2AA6-8D41-B74C8B7692D8}"/>
                  </a:ext>
                </a:extLst>
              </p:cNvPr>
              <p:cNvSpPr txBox="1"/>
              <p:nvPr/>
            </p:nvSpPr>
            <p:spPr>
              <a:xfrm>
                <a:off x="7795761" y="3002337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08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660375-C61D-2D1D-C5B7-405943F7E269}"/>
                  </a:ext>
                </a:extLst>
              </p:cNvPr>
              <p:cNvSpPr txBox="1"/>
              <p:nvPr/>
            </p:nvSpPr>
            <p:spPr>
              <a:xfrm>
                <a:off x="6431206" y="3012590"/>
                <a:ext cx="402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07</a:t>
                </a:r>
              </a:p>
            </p:txBody>
          </p:sp>
        </p:grpSp>
        <p:pic>
          <p:nvPicPr>
            <p:cNvPr id="44" name="Graphic 43" descr="Bullseye outline">
              <a:extLst>
                <a:ext uri="{FF2B5EF4-FFF2-40B4-BE49-F238E27FC236}">
                  <a16:creationId xmlns:a16="http://schemas.microsoft.com/office/drawing/2014/main" id="{5432CAA8-70A9-B3CF-6231-A985E52DDE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835" y="2943926"/>
              <a:ext cx="348926" cy="372488"/>
            </a:xfrm>
            <a:prstGeom prst="rect">
              <a:avLst/>
            </a:prstGeom>
          </p:spPr>
        </p:pic>
        <p:pic>
          <p:nvPicPr>
            <p:cNvPr id="45" name="Graphic 44" descr="Bullseye outline">
              <a:extLst>
                <a:ext uri="{FF2B5EF4-FFF2-40B4-BE49-F238E27FC236}">
                  <a16:creationId xmlns:a16="http://schemas.microsoft.com/office/drawing/2014/main" id="{80812347-4A8B-51AD-1F5D-03E27E01FB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68708" y="2952501"/>
              <a:ext cx="348926" cy="372488"/>
            </a:xfrm>
            <a:prstGeom prst="rect">
              <a:avLst/>
            </a:prstGeom>
          </p:spPr>
        </p:pic>
        <p:pic>
          <p:nvPicPr>
            <p:cNvPr id="47" name="Graphic 46" descr="Clipboard outline">
              <a:extLst>
                <a:ext uri="{FF2B5EF4-FFF2-40B4-BE49-F238E27FC236}">
                  <a16:creationId xmlns:a16="http://schemas.microsoft.com/office/drawing/2014/main" id="{B70D919E-E332-4C2E-27D6-AF993D3597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98102" y="2870771"/>
              <a:ext cx="479430" cy="479430"/>
            </a:xfrm>
            <a:prstGeom prst="rect">
              <a:avLst/>
            </a:prstGeom>
          </p:spPr>
        </p:pic>
        <p:pic>
          <p:nvPicPr>
            <p:cNvPr id="49" name="Graphic 48" descr="User outline">
              <a:extLst>
                <a:ext uri="{FF2B5EF4-FFF2-40B4-BE49-F238E27FC236}">
                  <a16:creationId xmlns:a16="http://schemas.microsoft.com/office/drawing/2014/main" id="{84302F7C-AA97-ACC7-AF5D-DC5D78D097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66267" y="2874384"/>
              <a:ext cx="511547" cy="511547"/>
            </a:xfrm>
            <a:prstGeom prst="rect">
              <a:avLst/>
            </a:prstGeom>
          </p:spPr>
        </p:pic>
        <p:pic>
          <p:nvPicPr>
            <p:cNvPr id="51" name="Graphic 50" descr="Gears outline">
              <a:extLst>
                <a:ext uri="{FF2B5EF4-FFF2-40B4-BE49-F238E27FC236}">
                  <a16:creationId xmlns:a16="http://schemas.microsoft.com/office/drawing/2014/main" id="{74DE1F84-7B99-B5DF-0E78-05ED44191E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47331" y="2798256"/>
              <a:ext cx="624460" cy="624460"/>
            </a:xfrm>
            <a:prstGeom prst="rect">
              <a:avLst/>
            </a:prstGeom>
          </p:spPr>
        </p:pic>
        <p:pic>
          <p:nvPicPr>
            <p:cNvPr id="53" name="Graphic 52" descr="Gears with solid fill">
              <a:extLst>
                <a:ext uri="{FF2B5EF4-FFF2-40B4-BE49-F238E27FC236}">
                  <a16:creationId xmlns:a16="http://schemas.microsoft.com/office/drawing/2014/main" id="{677E94FA-6015-9B5C-3BED-971BEAA2A6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89430" y="2957881"/>
              <a:ext cx="375581" cy="375581"/>
            </a:xfrm>
            <a:prstGeom prst="rect">
              <a:avLst/>
            </a:prstGeom>
          </p:spPr>
        </p:pic>
        <p:pic>
          <p:nvPicPr>
            <p:cNvPr id="55" name="Graphic 54" descr="Pie chart outline">
              <a:extLst>
                <a:ext uri="{FF2B5EF4-FFF2-40B4-BE49-F238E27FC236}">
                  <a16:creationId xmlns:a16="http://schemas.microsoft.com/office/drawing/2014/main" id="{FD0E5730-D78C-E0A4-0608-1D0FBCF085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10855" y="2968799"/>
              <a:ext cx="391588" cy="391588"/>
            </a:xfrm>
            <a:prstGeom prst="rect">
              <a:avLst/>
            </a:prstGeom>
          </p:spPr>
        </p:pic>
        <p:pic>
          <p:nvPicPr>
            <p:cNvPr id="57" name="Graphic 56" descr="Address Book outline">
              <a:extLst>
                <a:ext uri="{FF2B5EF4-FFF2-40B4-BE49-F238E27FC236}">
                  <a16:creationId xmlns:a16="http://schemas.microsoft.com/office/drawing/2014/main" id="{E18B0D5C-1105-97C1-2964-571606870B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623852" y="2945815"/>
              <a:ext cx="337803" cy="456121"/>
            </a:xfrm>
            <a:prstGeom prst="rect">
              <a:avLst/>
            </a:prstGeom>
          </p:spPr>
        </p:pic>
      </p:grpSp>
      <p:sp>
        <p:nvSpPr>
          <p:cNvPr id="59" name="Google Shape;74;p10">
            <a:extLst>
              <a:ext uri="{FF2B5EF4-FFF2-40B4-BE49-F238E27FC236}">
                <a16:creationId xmlns:a16="http://schemas.microsoft.com/office/drawing/2014/main" id="{AB07D4CC-43E8-CC7B-6B4D-0886A3FFD8AE}"/>
              </a:ext>
            </a:extLst>
          </p:cNvPr>
          <p:cNvSpPr txBox="1"/>
          <p:nvPr/>
        </p:nvSpPr>
        <p:spPr>
          <a:xfrm>
            <a:off x="3256690" y="129663"/>
            <a:ext cx="207407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2400" dirty="0">
              <a:solidFill>
                <a:srgbClr val="E411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84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8E776E1-684F-71B3-2CCD-A4D3F65D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74;p10">
            <a:extLst>
              <a:ext uri="{FF2B5EF4-FFF2-40B4-BE49-F238E27FC236}">
                <a16:creationId xmlns:a16="http://schemas.microsoft.com/office/drawing/2014/main" id="{9168D7A8-2EB6-DF75-001A-E8CAA9D1C8CA}"/>
              </a:ext>
            </a:extLst>
          </p:cNvPr>
          <p:cNvSpPr txBox="1"/>
          <p:nvPr/>
        </p:nvSpPr>
        <p:spPr>
          <a:xfrm>
            <a:off x="3256689" y="129663"/>
            <a:ext cx="2362057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Logical Architecture</a:t>
            </a:r>
            <a:endParaRPr sz="2400" dirty="0">
              <a:solidFill>
                <a:srgbClr val="E41165"/>
              </a:solidFill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5EF9F25-819E-38E2-0B2E-9115B55D681C}"/>
              </a:ext>
            </a:extLst>
          </p:cNvPr>
          <p:cNvGrpSpPr/>
          <p:nvPr/>
        </p:nvGrpSpPr>
        <p:grpSpPr>
          <a:xfrm>
            <a:off x="108281" y="1046746"/>
            <a:ext cx="9071815" cy="3914942"/>
            <a:chOff x="216569" y="1094874"/>
            <a:chExt cx="9071815" cy="391494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B2A579C-93DF-0988-E922-000E5F72A923}"/>
                </a:ext>
              </a:extLst>
            </p:cNvPr>
            <p:cNvGrpSpPr/>
            <p:nvPr/>
          </p:nvGrpSpPr>
          <p:grpSpPr>
            <a:xfrm>
              <a:off x="216569" y="1094874"/>
              <a:ext cx="8689640" cy="3914942"/>
              <a:chOff x="216569" y="1094874"/>
              <a:chExt cx="8689640" cy="391494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C9FCEAD-7E70-9B5D-3944-5F1E0365A1FC}"/>
                  </a:ext>
                </a:extLst>
              </p:cNvPr>
              <p:cNvSpPr/>
              <p:nvPr/>
            </p:nvSpPr>
            <p:spPr>
              <a:xfrm>
                <a:off x="216570" y="1094874"/>
                <a:ext cx="1227220" cy="457200"/>
              </a:xfrm>
              <a:prstGeom prst="rect">
                <a:avLst/>
              </a:prstGeom>
              <a:solidFill>
                <a:srgbClr val="98184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900" dirty="0"/>
                  <a:t>1.DATA SOURCE LAYER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C2C9AA5-89DA-FEE6-B1F0-EEEBA03D7462}"/>
                  </a:ext>
                </a:extLst>
              </p:cNvPr>
              <p:cNvSpPr/>
              <p:nvPr/>
            </p:nvSpPr>
            <p:spPr>
              <a:xfrm>
                <a:off x="216570" y="1660358"/>
                <a:ext cx="1227220" cy="4572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>
                    <a:solidFill>
                      <a:schemeClr val="bg1"/>
                    </a:solidFill>
                  </a:rPr>
                  <a:t>2.VALIDATION &amp; SECURITY LAYER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DDDC6D-230C-6383-BE55-F90B4AF0B8E3}"/>
                  </a:ext>
                </a:extLst>
              </p:cNvPr>
              <p:cNvSpPr/>
              <p:nvPr/>
            </p:nvSpPr>
            <p:spPr>
              <a:xfrm>
                <a:off x="216569" y="2213810"/>
                <a:ext cx="1248348" cy="4320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3.PREPROCESSING LAYER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8E02AE6-49C5-28E4-5CD5-434DCC0B2AEF}"/>
                  </a:ext>
                </a:extLst>
              </p:cNvPr>
              <p:cNvSpPr/>
              <p:nvPr/>
            </p:nvSpPr>
            <p:spPr>
              <a:xfrm>
                <a:off x="216569" y="2742062"/>
                <a:ext cx="1227221" cy="84334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900" dirty="0"/>
                  <a:t>4.AI AGENTIC LAYER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48F9B39-D7AA-A21B-3E1E-5C74190B6FD7}"/>
                  </a:ext>
                </a:extLst>
              </p:cNvPr>
              <p:cNvSpPr/>
              <p:nvPr/>
            </p:nvSpPr>
            <p:spPr>
              <a:xfrm>
                <a:off x="216569" y="3729789"/>
                <a:ext cx="1227221" cy="468000"/>
              </a:xfrm>
              <a:prstGeom prst="rect">
                <a:avLst/>
              </a:prstGeom>
              <a:solidFill>
                <a:schemeClr val="tx2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900" dirty="0"/>
                  <a:t>5.GOVERNANCE LAYER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7FE1CF8-8C8C-B0F1-6796-7A30457FA8CA}"/>
                  </a:ext>
                </a:extLst>
              </p:cNvPr>
              <p:cNvSpPr/>
              <p:nvPr/>
            </p:nvSpPr>
            <p:spPr>
              <a:xfrm>
                <a:off x="216569" y="4319335"/>
                <a:ext cx="1227221" cy="690481"/>
              </a:xfrm>
              <a:prstGeom prst="rect">
                <a:avLst/>
              </a:prstGeom>
              <a:solidFill>
                <a:schemeClr val="bg2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900" dirty="0"/>
                  <a:t>6.OUTPUT &amp; REPORTING LAYER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5CF445C-27B4-B2AF-ACC6-7CD941AC0D41}"/>
                  </a:ext>
                </a:extLst>
              </p:cNvPr>
              <p:cNvSpPr/>
              <p:nvPr/>
            </p:nvSpPr>
            <p:spPr>
              <a:xfrm>
                <a:off x="1552074" y="1094874"/>
                <a:ext cx="7267073" cy="4572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                         ETL Logs (etl_logs.txt) ETL Logs (etl_logs.txt)</a:t>
                </a: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119FBF25-927E-6E6C-0FC4-46C0F4C0D1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5852" y="1130970"/>
                <a:ext cx="286906" cy="360947"/>
              </a:xfrm>
              <a:prstGeom prst="rect">
                <a:avLst/>
              </a:prstGeom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D8AAB398-F72B-F4BB-9644-3F0E4D9BA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4920" y="1130970"/>
                <a:ext cx="281027" cy="381053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723C5CC-9CB5-C707-CE4B-D010FF24447C}"/>
                  </a:ext>
                </a:extLst>
              </p:cNvPr>
              <p:cNvSpPr txBox="1"/>
              <p:nvPr/>
            </p:nvSpPr>
            <p:spPr>
              <a:xfrm>
                <a:off x="2722758" y="1130970"/>
                <a:ext cx="165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 dirty="0"/>
                  <a:t>Clinical Trial Data </a:t>
                </a:r>
                <a:r>
                  <a:rPr lang="en-IN" sz="900" dirty="0"/>
                  <a:t>(clinical_trial_data.csv)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BBDB2C5-AFA3-D1F6-18C6-3E7ADF4D658E}"/>
                  </a:ext>
                </a:extLst>
              </p:cNvPr>
              <p:cNvSpPr txBox="1"/>
              <p:nvPr/>
            </p:nvSpPr>
            <p:spPr>
              <a:xfrm>
                <a:off x="6219948" y="1151020"/>
                <a:ext cx="165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 dirty="0"/>
                  <a:t>ETL Logs </a:t>
                </a:r>
              </a:p>
              <a:p>
                <a:r>
                  <a:rPr lang="en-IN" sz="900" dirty="0"/>
                  <a:t>(etl_logs.txt)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8DEF82D-4E47-0A10-8C5C-D7D72CCE8FD9}"/>
                  </a:ext>
                </a:extLst>
              </p:cNvPr>
              <p:cNvSpPr/>
              <p:nvPr/>
            </p:nvSpPr>
            <p:spPr>
              <a:xfrm>
                <a:off x="1552074" y="1660358"/>
                <a:ext cx="7267073" cy="4572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EC4A14D2-578C-1C0E-2CEC-10CB6B311A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3682" y="1689627"/>
                <a:ext cx="370103" cy="353280"/>
              </a:xfrm>
              <a:prstGeom prst="rect">
                <a:avLst/>
              </a:prstGeom>
            </p:spPr>
          </p:pic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A97342F-5C27-E041-A5E1-593FC1F11B8D}"/>
                  </a:ext>
                </a:extLst>
              </p:cNvPr>
              <p:cNvSpPr txBox="1"/>
              <p:nvPr/>
            </p:nvSpPr>
            <p:spPr>
              <a:xfrm>
                <a:off x="2153785" y="1699451"/>
                <a:ext cx="15519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 dirty="0"/>
                  <a:t>Upload Freshness Validation</a:t>
                </a:r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6B5A0A02-20B2-66DA-1817-149D256F56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04204" y="1723187"/>
                <a:ext cx="335444" cy="319720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59FFEF4-BF01-25B1-41BA-CED1FBA64163}"/>
                  </a:ext>
                </a:extLst>
              </p:cNvPr>
              <p:cNvSpPr txBox="1"/>
              <p:nvPr/>
            </p:nvSpPr>
            <p:spPr>
              <a:xfrm>
                <a:off x="4411715" y="1727519"/>
                <a:ext cx="1292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 dirty="0"/>
                  <a:t>Data Freshness Validation</a:t>
                </a:r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D6F9B0DD-A2A3-D11D-8A25-D3251E4D8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51939" y="1723187"/>
                <a:ext cx="252448" cy="285791"/>
              </a:xfrm>
              <a:prstGeom prst="rect">
                <a:avLst/>
              </a:prstGeom>
            </p:spPr>
          </p:pic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08473E2-93BE-7C1A-5FAB-E14D65FAED45}"/>
                  </a:ext>
                </a:extLst>
              </p:cNvPr>
              <p:cNvSpPr txBox="1"/>
              <p:nvPr/>
            </p:nvSpPr>
            <p:spPr>
              <a:xfrm>
                <a:off x="6188381" y="1715487"/>
                <a:ext cx="1066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 dirty="0"/>
                  <a:t>Schema Validation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DD3F9D2-E6C5-D778-964E-7AF5360198AD}"/>
                  </a:ext>
                </a:extLst>
              </p:cNvPr>
              <p:cNvSpPr txBox="1"/>
              <p:nvPr/>
            </p:nvSpPr>
            <p:spPr>
              <a:xfrm>
                <a:off x="7839547" y="1723187"/>
                <a:ext cx="1066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 dirty="0"/>
                  <a:t>PII/PHI Masking &amp; Sanitization</a:t>
                </a:r>
              </a:p>
            </p:txBody>
          </p: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15DF2479-29A9-A688-5C0D-364AA214E6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42429" y="1694685"/>
                <a:ext cx="374098" cy="374098"/>
              </a:xfrm>
              <a:prstGeom prst="rect">
                <a:avLst/>
              </a:prstGeom>
            </p:spPr>
          </p:pic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56F5848-B257-56EE-5474-058D87C9978A}"/>
                  </a:ext>
                </a:extLst>
              </p:cNvPr>
              <p:cNvCxnSpPr/>
              <p:nvPr/>
            </p:nvCxnSpPr>
            <p:spPr>
              <a:xfrm>
                <a:off x="4892944" y="1151020"/>
                <a:ext cx="0" cy="34928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1F54323-201B-C5E2-33BE-513EFD086345}"/>
                  </a:ext>
                </a:extLst>
              </p:cNvPr>
              <p:cNvCxnSpPr/>
              <p:nvPr/>
            </p:nvCxnSpPr>
            <p:spPr>
              <a:xfrm>
                <a:off x="7331351" y="1688437"/>
                <a:ext cx="0" cy="34928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32ADE89-0758-491D-EB4B-9381158D4E7B}"/>
                  </a:ext>
                </a:extLst>
              </p:cNvPr>
              <p:cNvCxnSpPr/>
              <p:nvPr/>
            </p:nvCxnSpPr>
            <p:spPr>
              <a:xfrm>
                <a:off x="5823398" y="1720517"/>
                <a:ext cx="0" cy="34928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0796A264-A598-DF99-BFA4-8032DA848961}"/>
                  </a:ext>
                </a:extLst>
              </p:cNvPr>
              <p:cNvCxnSpPr/>
              <p:nvPr/>
            </p:nvCxnSpPr>
            <p:spPr>
              <a:xfrm>
                <a:off x="3653696" y="1716505"/>
                <a:ext cx="0" cy="34928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C03D2E4-53CC-91D6-2A79-5EFB2544CB43}"/>
                </a:ext>
              </a:extLst>
            </p:cNvPr>
            <p:cNvSpPr/>
            <p:nvPr/>
          </p:nvSpPr>
          <p:spPr>
            <a:xfrm>
              <a:off x="1572123" y="2209804"/>
              <a:ext cx="7267073" cy="4572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23A8EF8-F771-C1E0-08BC-77801D33A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18750" y="2276434"/>
              <a:ext cx="238307" cy="369376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2A03549-9C4A-8FBF-DCBE-F4B887FAC16D}"/>
                </a:ext>
              </a:extLst>
            </p:cNvPr>
            <p:cNvSpPr txBox="1"/>
            <p:nvPr/>
          </p:nvSpPr>
          <p:spPr>
            <a:xfrm>
              <a:off x="2101644" y="2285997"/>
              <a:ext cx="1142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Pandas Processing</a:t>
              </a: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5DB7888-65CB-7F38-EE77-E1567BFE0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11941" y="2321090"/>
              <a:ext cx="306675" cy="275488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00E4063-277A-21E4-5305-3D5C6FDF4A47}"/>
                </a:ext>
              </a:extLst>
            </p:cNvPr>
            <p:cNvSpPr txBox="1"/>
            <p:nvPr/>
          </p:nvSpPr>
          <p:spPr>
            <a:xfrm>
              <a:off x="3794088" y="2297025"/>
              <a:ext cx="1018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Metrics Extraction</a:t>
              </a: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70A30D89-319A-E8D3-3C35-F105D53BF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94584" y="2232196"/>
              <a:ext cx="322772" cy="364613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9A3E7C4-D213-7E18-89BA-2FBACD487B73}"/>
                </a:ext>
              </a:extLst>
            </p:cNvPr>
            <p:cNvSpPr txBox="1"/>
            <p:nvPr/>
          </p:nvSpPr>
          <p:spPr>
            <a:xfrm>
              <a:off x="7839547" y="2240202"/>
              <a:ext cx="1018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Log Cleaning &amp; Standardization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9D88564-6BB4-EBD1-E690-1ADF2450AC61}"/>
                </a:ext>
              </a:extLst>
            </p:cNvPr>
            <p:cNvCxnSpPr/>
            <p:nvPr/>
          </p:nvCxnSpPr>
          <p:spPr>
            <a:xfrm>
              <a:off x="7219053" y="2249917"/>
              <a:ext cx="0" cy="349282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9D7956-B2A1-442F-DB4D-4DD832A46AEF}"/>
                </a:ext>
              </a:extLst>
            </p:cNvPr>
            <p:cNvCxnSpPr/>
            <p:nvPr/>
          </p:nvCxnSpPr>
          <p:spPr>
            <a:xfrm>
              <a:off x="3056130" y="2285997"/>
              <a:ext cx="0" cy="349282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AA6AEC6-FF1F-C9F9-BC76-6EF69CA0B2AA}"/>
                </a:ext>
              </a:extLst>
            </p:cNvPr>
            <p:cNvCxnSpPr/>
            <p:nvPr/>
          </p:nvCxnSpPr>
          <p:spPr>
            <a:xfrm>
              <a:off x="4957116" y="2297025"/>
              <a:ext cx="0" cy="349282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673DFFAC-1461-7DA6-A706-75C0BD33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74428" y="2321090"/>
              <a:ext cx="306675" cy="258569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BC8EE89-BCDB-34E3-E127-F38F76277AAF}"/>
                </a:ext>
              </a:extLst>
            </p:cNvPr>
            <p:cNvSpPr txBox="1"/>
            <p:nvPr/>
          </p:nvSpPr>
          <p:spPr>
            <a:xfrm>
              <a:off x="6088116" y="2280980"/>
              <a:ext cx="1018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Statistical Drift Detection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45F7B32-7494-1AED-E8DC-CF28789FFAF8}"/>
                </a:ext>
              </a:extLst>
            </p:cNvPr>
            <p:cNvSpPr/>
            <p:nvPr/>
          </p:nvSpPr>
          <p:spPr>
            <a:xfrm>
              <a:off x="1639136" y="4275232"/>
              <a:ext cx="7267073" cy="6904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C5FE7F2-630D-9EC5-EA3C-F3B51D075817}"/>
                </a:ext>
              </a:extLst>
            </p:cNvPr>
            <p:cNvSpPr/>
            <p:nvPr/>
          </p:nvSpPr>
          <p:spPr>
            <a:xfrm>
              <a:off x="1591018" y="3734040"/>
              <a:ext cx="7267073" cy="4572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Human-in-the-Loop Review • Clinical Data Manager / DevOps Engineer Review • Validate Al Findings • Approve / Reject Recommendations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4316830-32F5-2B1D-CD0A-397F2E9E0F10}"/>
                </a:ext>
              </a:extLst>
            </p:cNvPr>
            <p:cNvSpPr/>
            <p:nvPr/>
          </p:nvSpPr>
          <p:spPr>
            <a:xfrm>
              <a:off x="1604203" y="2771305"/>
              <a:ext cx="7267073" cy="81410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789E85A-CFCC-F787-2FE1-D3044A87E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25728" y="3770791"/>
              <a:ext cx="286009" cy="358914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AB1EE99-76BF-9EB8-BB98-BD9DEEA89896}"/>
                </a:ext>
              </a:extLst>
            </p:cNvPr>
            <p:cNvSpPr txBox="1"/>
            <p:nvPr/>
          </p:nvSpPr>
          <p:spPr>
            <a:xfrm>
              <a:off x="2169820" y="3761876"/>
              <a:ext cx="24021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b="1" dirty="0"/>
                <a:t>Audit Trail &amp; Lineage</a:t>
              </a:r>
            </a:p>
            <a:p>
              <a:r>
                <a:rPr lang="en-IN" sz="800" dirty="0"/>
                <a:t>• Prompt Logging • Agent Responses • Evidence &amp; Reasoning • Timestamps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24B232B-069F-5752-371C-F1DAD53FACC2}"/>
                </a:ext>
              </a:extLst>
            </p:cNvPr>
            <p:cNvCxnSpPr/>
            <p:nvPr/>
          </p:nvCxnSpPr>
          <p:spPr>
            <a:xfrm>
              <a:off x="4953104" y="3772906"/>
              <a:ext cx="0" cy="349282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3EA44A8-E009-4D60-2182-1B4C6D588461}"/>
                </a:ext>
              </a:extLst>
            </p:cNvPr>
            <p:cNvSpPr txBox="1"/>
            <p:nvPr/>
          </p:nvSpPr>
          <p:spPr>
            <a:xfrm>
              <a:off x="5763355" y="3757863"/>
              <a:ext cx="3003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b="1" dirty="0">
                  <a:solidFill>
                    <a:schemeClr val="tx1"/>
                  </a:solidFill>
                </a:rPr>
                <a:t>Human-in-the-Loop Review </a:t>
              </a:r>
            </a:p>
            <a:p>
              <a:r>
                <a:rPr lang="en-IN" sz="800" dirty="0"/>
                <a:t>• Clinical Data Manager / DevOps Engineer Review • Validate Al Findings • Approve / Reject Recommendations</a:t>
              </a: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45AC1833-E6B2-7976-84FE-FDFC50B66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82250" y="3804873"/>
              <a:ext cx="280727" cy="378122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55BDBC0-074D-3EF0-9BD5-764F38C90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50145" y="4395008"/>
              <a:ext cx="261592" cy="257439"/>
            </a:xfrm>
            <a:prstGeom prst="rect">
              <a:avLst/>
            </a:prstGeom>
          </p:spPr>
        </p:pic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0F9DEDB-5E39-D495-1C49-F248F4B84436}"/>
                </a:ext>
              </a:extLst>
            </p:cNvPr>
            <p:cNvSpPr txBox="1"/>
            <p:nvPr/>
          </p:nvSpPr>
          <p:spPr>
            <a:xfrm>
              <a:off x="2135620" y="4331368"/>
              <a:ext cx="1142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Clinical Analytics Dashboard (Real-time Monitoring &amp; Insights)</a:t>
              </a: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54BE9934-E95E-BB04-3439-424B2BE64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759233" y="4327368"/>
              <a:ext cx="319564" cy="397948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72CE311-EB33-D413-B13C-79150B08382C}"/>
                </a:ext>
              </a:extLst>
            </p:cNvPr>
            <p:cNvSpPr txBox="1"/>
            <p:nvPr/>
          </p:nvSpPr>
          <p:spPr>
            <a:xfrm>
              <a:off x="4080725" y="4327355"/>
              <a:ext cx="2007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Al Incident Report (Anomalies, RCA, Recommendations)</a:t>
              </a: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F3D3C0CF-1AC9-A336-95DF-A83BEC08E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136243" y="4379636"/>
              <a:ext cx="312681" cy="247345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094FBF5-F3AD-FD82-FBC5-F711A665AD05}"/>
                </a:ext>
              </a:extLst>
            </p:cNvPr>
            <p:cNvSpPr txBox="1"/>
            <p:nvPr/>
          </p:nvSpPr>
          <p:spPr>
            <a:xfrm>
              <a:off x="6386781" y="4323339"/>
              <a:ext cx="2901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Regulatory Reporting </a:t>
              </a:r>
              <a:r>
                <a:rPr lang="en-IN" sz="900" dirty="0"/>
                <a:t>(FDA /EMA/ GCP Compliance)</a:t>
              </a:r>
            </a:p>
          </p:txBody>
        </p: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8A4C4683-B24E-6E7B-5A1D-5BF9A9DCC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017406" y="2904788"/>
              <a:ext cx="352474" cy="409632"/>
            </a:xfrm>
            <a:prstGeom prst="rect">
              <a:avLst/>
            </a:prstGeom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0D4D032-15C6-FE29-BDAD-C9BDB456DB36}"/>
                </a:ext>
              </a:extLst>
            </p:cNvPr>
            <p:cNvSpPr txBox="1"/>
            <p:nvPr/>
          </p:nvSpPr>
          <p:spPr>
            <a:xfrm>
              <a:off x="1612229" y="3331119"/>
              <a:ext cx="11425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Supervisor Agent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574D763-D279-7D76-84C0-BF1195854586}"/>
                </a:ext>
              </a:extLst>
            </p:cNvPr>
            <p:cNvSpPr/>
            <p:nvPr/>
          </p:nvSpPr>
          <p:spPr>
            <a:xfrm>
              <a:off x="2718666" y="2812083"/>
              <a:ext cx="6100481" cy="6966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30" name="Graphic 129" descr="Robot with solid fill">
              <a:extLst>
                <a:ext uri="{FF2B5EF4-FFF2-40B4-BE49-F238E27FC236}">
                  <a16:creationId xmlns:a16="http://schemas.microsoft.com/office/drawing/2014/main" id="{0FB53B99-7DAB-9C9A-3B8F-C2762D91B0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968226" y="2866959"/>
              <a:ext cx="485290" cy="485290"/>
            </a:xfrm>
            <a:prstGeom prst="rect">
              <a:avLst/>
            </a:prstGeom>
          </p:spPr>
        </p:pic>
        <p:pic>
          <p:nvPicPr>
            <p:cNvPr id="132" name="Graphic 131" descr="Robot outline">
              <a:extLst>
                <a:ext uri="{FF2B5EF4-FFF2-40B4-BE49-F238E27FC236}">
                  <a16:creationId xmlns:a16="http://schemas.microsoft.com/office/drawing/2014/main" id="{15BFC16B-A54F-B39A-7365-68887469DA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786635" y="2859556"/>
              <a:ext cx="485291" cy="485291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DAA1792-7B47-75F6-2DFE-BB7C53F50C23}"/>
                </a:ext>
              </a:extLst>
            </p:cNvPr>
            <p:cNvSpPr txBox="1"/>
            <p:nvPr/>
          </p:nvSpPr>
          <p:spPr>
            <a:xfrm>
              <a:off x="2907637" y="3308751"/>
              <a:ext cx="72635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DQ Agent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B99258C-6552-B840-45CF-E8E2F94017FB}"/>
                </a:ext>
              </a:extLst>
            </p:cNvPr>
            <p:cNvSpPr txBox="1"/>
            <p:nvPr/>
          </p:nvSpPr>
          <p:spPr>
            <a:xfrm>
              <a:off x="3625521" y="3304737"/>
              <a:ext cx="14758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Log Analysis Agent</a:t>
              </a:r>
            </a:p>
          </p:txBody>
        </p:sp>
        <p:pic>
          <p:nvPicPr>
            <p:cNvPr id="136" name="Graphic 135" descr="Robot with solid fill">
              <a:extLst>
                <a:ext uri="{FF2B5EF4-FFF2-40B4-BE49-F238E27FC236}">
                  <a16:creationId xmlns:a16="http://schemas.microsoft.com/office/drawing/2014/main" id="{EE0D832F-B72E-130F-97EB-DE87D57FD8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848718" y="2879222"/>
              <a:ext cx="485290" cy="485290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1FD7F4D-99F0-EFE3-5ED0-5E195810327D}"/>
                </a:ext>
              </a:extLst>
            </p:cNvPr>
            <p:cNvSpPr txBox="1"/>
            <p:nvPr/>
          </p:nvSpPr>
          <p:spPr>
            <a:xfrm>
              <a:off x="4808854" y="3301564"/>
              <a:ext cx="14758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RCA Agent</a:t>
              </a:r>
            </a:p>
          </p:txBody>
        </p:sp>
        <p:pic>
          <p:nvPicPr>
            <p:cNvPr id="138" name="Graphic 137" descr="Robot with solid fill">
              <a:extLst>
                <a:ext uri="{FF2B5EF4-FFF2-40B4-BE49-F238E27FC236}">
                  <a16:creationId xmlns:a16="http://schemas.microsoft.com/office/drawing/2014/main" id="{988C8292-41A0-544E-EBC2-0D424549E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792659" y="2852169"/>
              <a:ext cx="485290" cy="48529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78D9903-B5AF-E7D5-136C-12451E9B7871}"/>
                </a:ext>
              </a:extLst>
            </p:cNvPr>
            <p:cNvSpPr txBox="1"/>
            <p:nvPr/>
          </p:nvSpPr>
          <p:spPr>
            <a:xfrm>
              <a:off x="7543916" y="3284623"/>
              <a:ext cx="14758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Compliance Agent</a:t>
              </a:r>
            </a:p>
          </p:txBody>
        </p:sp>
        <p:pic>
          <p:nvPicPr>
            <p:cNvPr id="140" name="Graphic 139" descr="Robot outline">
              <a:extLst>
                <a:ext uri="{FF2B5EF4-FFF2-40B4-BE49-F238E27FC236}">
                  <a16:creationId xmlns:a16="http://schemas.microsoft.com/office/drawing/2014/main" id="{64A6F375-A684-7E97-2CEB-ECF89CC37B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229886" y="2843807"/>
              <a:ext cx="485291" cy="485291"/>
            </a:xfrm>
            <a:prstGeom prst="rect">
              <a:avLst/>
            </a:prstGeom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DF9D432-8378-E022-4D81-6FE46F9A172A}"/>
                </a:ext>
              </a:extLst>
            </p:cNvPr>
            <p:cNvSpPr txBox="1"/>
            <p:nvPr/>
          </p:nvSpPr>
          <p:spPr>
            <a:xfrm>
              <a:off x="5910799" y="3313574"/>
              <a:ext cx="17333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Recommendation Agent</a:t>
              </a: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7B51B49-26A1-FDD6-688A-8116D2A61463}"/>
                </a:ext>
              </a:extLst>
            </p:cNvPr>
            <p:cNvCxnSpPr>
              <a:cxnSpLocks/>
            </p:cNvCxnSpPr>
            <p:nvPr/>
          </p:nvCxnSpPr>
          <p:spPr>
            <a:xfrm>
              <a:off x="3256552" y="4535906"/>
              <a:ext cx="3705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15793DC2-DE1C-9338-BD0E-0D67EE170C07}"/>
                </a:ext>
              </a:extLst>
            </p:cNvPr>
            <p:cNvCxnSpPr>
              <a:cxnSpLocks/>
            </p:cNvCxnSpPr>
            <p:nvPr/>
          </p:nvCxnSpPr>
          <p:spPr>
            <a:xfrm>
              <a:off x="5682930" y="4507829"/>
              <a:ext cx="3705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0" name="Arrow: Curved Left 149">
            <a:extLst>
              <a:ext uri="{FF2B5EF4-FFF2-40B4-BE49-F238E27FC236}">
                <a16:creationId xmlns:a16="http://schemas.microsoft.com/office/drawing/2014/main" id="{5BD35988-A0C9-7AA7-4B8F-0A85EBE006C9}"/>
              </a:ext>
            </a:extLst>
          </p:cNvPr>
          <p:cNvSpPr/>
          <p:nvPr/>
        </p:nvSpPr>
        <p:spPr>
          <a:xfrm>
            <a:off x="8749803" y="1347537"/>
            <a:ext cx="269977" cy="457200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1" name="Arrow: Curved Left 150">
            <a:extLst>
              <a:ext uri="{FF2B5EF4-FFF2-40B4-BE49-F238E27FC236}">
                <a16:creationId xmlns:a16="http://schemas.microsoft.com/office/drawing/2014/main" id="{567CB04A-0520-606F-D683-2B8D3204B428}"/>
              </a:ext>
            </a:extLst>
          </p:cNvPr>
          <p:cNvSpPr/>
          <p:nvPr/>
        </p:nvSpPr>
        <p:spPr>
          <a:xfrm>
            <a:off x="8733794" y="2004252"/>
            <a:ext cx="269977" cy="457200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2" name="Arrow: Curved Left 151">
            <a:extLst>
              <a:ext uri="{FF2B5EF4-FFF2-40B4-BE49-F238E27FC236}">
                <a16:creationId xmlns:a16="http://schemas.microsoft.com/office/drawing/2014/main" id="{9E7573B6-298B-DECB-EA7E-25798207D8A4}"/>
              </a:ext>
            </a:extLst>
          </p:cNvPr>
          <p:cNvSpPr/>
          <p:nvPr/>
        </p:nvSpPr>
        <p:spPr>
          <a:xfrm>
            <a:off x="8744424" y="2557709"/>
            <a:ext cx="269977" cy="457200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3" name="Arrow: Curved Left 152">
            <a:extLst>
              <a:ext uri="{FF2B5EF4-FFF2-40B4-BE49-F238E27FC236}">
                <a16:creationId xmlns:a16="http://schemas.microsoft.com/office/drawing/2014/main" id="{79DE998A-FAF3-88D0-AB20-E84CA873ADF7}"/>
              </a:ext>
            </a:extLst>
          </p:cNvPr>
          <p:cNvSpPr/>
          <p:nvPr/>
        </p:nvSpPr>
        <p:spPr>
          <a:xfrm>
            <a:off x="8757829" y="3331632"/>
            <a:ext cx="269977" cy="457200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4" name="Arrow: Curved Left 153">
            <a:extLst>
              <a:ext uri="{FF2B5EF4-FFF2-40B4-BE49-F238E27FC236}">
                <a16:creationId xmlns:a16="http://schemas.microsoft.com/office/drawing/2014/main" id="{C7E6AEE0-3157-B66B-88FD-1BAC20344A13}"/>
              </a:ext>
            </a:extLst>
          </p:cNvPr>
          <p:cNvSpPr/>
          <p:nvPr/>
        </p:nvSpPr>
        <p:spPr>
          <a:xfrm>
            <a:off x="8794776" y="3988347"/>
            <a:ext cx="269977" cy="457200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29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B009C4A-985A-BE42-5BCE-772E120C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>
            <a:extLst>
              <a:ext uri="{FF2B5EF4-FFF2-40B4-BE49-F238E27FC236}">
                <a16:creationId xmlns:a16="http://schemas.microsoft.com/office/drawing/2014/main" id="{A23737FB-BD6B-3549-13D0-BC8F700854B9}"/>
              </a:ext>
            </a:extLst>
          </p:cNvPr>
          <p:cNvSpPr txBox="1"/>
          <p:nvPr/>
        </p:nvSpPr>
        <p:spPr>
          <a:xfrm>
            <a:off x="907543" y="851309"/>
            <a:ext cx="436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9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4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Future Enhancement</a:t>
            </a:r>
            <a:endParaRPr sz="2400" dirty="0">
              <a:solidFill>
                <a:srgbClr val="E41165"/>
              </a:solidFill>
            </a:endParaRPr>
          </a:p>
        </p:txBody>
      </p:sp>
      <p:sp>
        <p:nvSpPr>
          <p:cNvPr id="75" name="Google Shape;75;p10">
            <a:extLst>
              <a:ext uri="{FF2B5EF4-FFF2-40B4-BE49-F238E27FC236}">
                <a16:creationId xmlns:a16="http://schemas.microsoft.com/office/drawing/2014/main" id="{BDB173C5-7F51-F285-ECB8-69BF5E050EC7}"/>
              </a:ext>
            </a:extLst>
          </p:cNvPr>
          <p:cNvSpPr txBox="1"/>
          <p:nvPr/>
        </p:nvSpPr>
        <p:spPr>
          <a:xfrm>
            <a:off x="1336049" y="4428606"/>
            <a:ext cx="127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>
            <a:extLst>
              <a:ext uri="{FF2B5EF4-FFF2-40B4-BE49-F238E27FC236}">
                <a16:creationId xmlns:a16="http://schemas.microsoft.com/office/drawing/2014/main" id="{9A9005FD-6BF4-3A7D-B63E-417B44F7B4DF}"/>
              </a:ext>
            </a:extLst>
          </p:cNvPr>
          <p:cNvSpPr txBox="1"/>
          <p:nvPr/>
        </p:nvSpPr>
        <p:spPr>
          <a:xfrm>
            <a:off x="4892884" y="4427122"/>
            <a:ext cx="111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>
            <a:extLst>
              <a:ext uri="{FF2B5EF4-FFF2-40B4-BE49-F238E27FC236}">
                <a16:creationId xmlns:a16="http://schemas.microsoft.com/office/drawing/2014/main" id="{AD000D96-043E-4E4B-988C-10950E693B88}"/>
              </a:ext>
            </a:extLst>
          </p:cNvPr>
          <p:cNvSpPr txBox="1"/>
          <p:nvPr/>
        </p:nvSpPr>
        <p:spPr>
          <a:xfrm>
            <a:off x="6428542" y="4427119"/>
            <a:ext cx="185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>
            <a:extLst>
              <a:ext uri="{FF2B5EF4-FFF2-40B4-BE49-F238E27FC236}">
                <a16:creationId xmlns:a16="http://schemas.microsoft.com/office/drawing/2014/main" id="{1DA5BA0A-55E2-5767-2A28-42F403D64E65}"/>
              </a:ext>
            </a:extLst>
          </p:cNvPr>
          <p:cNvSpPr txBox="1"/>
          <p:nvPr/>
        </p:nvSpPr>
        <p:spPr>
          <a:xfrm>
            <a:off x="640749" y="1566475"/>
            <a:ext cx="7961383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IN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Real-time streaming observability using Kafka and Spark Streaming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IN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IN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Predictive anomaly detection using historical clinical trial trends and ML models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IN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IN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Automated remediation workflows for ETL and ingestion failures</a:t>
            </a: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endParaRPr lang="en-IN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0250" lvl="0" indent="-285750">
              <a:buFont typeface="Wingdings" panose="05000000000000000000" pitchFamily="2" charset="2"/>
              <a:buChar char="ü"/>
              <a:tabLst>
                <a:tab pos="265113" algn="l"/>
              </a:tabLst>
            </a:pPr>
            <a:r>
              <a:rPr lang="en-IN" sz="1600" dirty="0">
                <a:solidFill>
                  <a:srgbClr val="E41165"/>
                </a:solidFill>
                <a:latin typeface="Calibri"/>
                <a:ea typeface="Calibri"/>
                <a:cs typeface="Calibri"/>
                <a:sym typeface="Calibri"/>
              </a:rPr>
              <a:t>Integration with hospital systems, laboratory APIs, and medical IoT devices</a:t>
            </a:r>
            <a:endParaRPr lang="en-US" sz="1600" dirty="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0">
            <a:extLst>
              <a:ext uri="{FF2B5EF4-FFF2-40B4-BE49-F238E27FC236}">
                <a16:creationId xmlns:a16="http://schemas.microsoft.com/office/drawing/2014/main" id="{650CB494-52A5-1582-9C0E-B43B88FE027B}"/>
              </a:ext>
            </a:extLst>
          </p:cNvPr>
          <p:cNvSpPr txBox="1"/>
          <p:nvPr/>
        </p:nvSpPr>
        <p:spPr>
          <a:xfrm>
            <a:off x="601762" y="2895775"/>
            <a:ext cx="291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411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574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150" y="1229400"/>
            <a:ext cx="4793700" cy="2684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itle Slide_Black Yellow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Slide_White Yellow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ivider Slide_Whit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603</Words>
  <Application>Microsoft Office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Slab Light</vt:lpstr>
      <vt:lpstr>Arial</vt:lpstr>
      <vt:lpstr>Calibri</vt:lpstr>
      <vt:lpstr>Wingdings</vt:lpstr>
      <vt:lpstr>Title Slide_Black Yellow</vt:lpstr>
      <vt:lpstr>Title Slide_White Yellow</vt:lpstr>
      <vt:lpstr>Divider Slide_White</vt:lpstr>
      <vt:lpstr>Agentic AI System for Data Observability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P S</cp:lastModifiedBy>
  <cp:revision>6</cp:revision>
  <dcterms:modified xsi:type="dcterms:W3CDTF">2026-05-13T20:02:08Z</dcterms:modified>
</cp:coreProperties>
</file>